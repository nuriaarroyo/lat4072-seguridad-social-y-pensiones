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5"/>
  </p:notesMasterIdLst>
  <p:sldIdLst>
    <p:sldId id="439" r:id="rId5"/>
    <p:sldId id="336" r:id="rId6"/>
    <p:sldId id="487" r:id="rId7"/>
    <p:sldId id="546" r:id="rId8"/>
    <p:sldId id="541" r:id="rId9"/>
    <p:sldId id="539" r:id="rId10"/>
    <p:sldId id="538" r:id="rId11"/>
    <p:sldId id="547" r:id="rId12"/>
    <p:sldId id="548" r:id="rId13"/>
    <p:sldId id="549" r:id="rId14"/>
    <p:sldId id="550" r:id="rId15"/>
    <p:sldId id="553" r:id="rId16"/>
    <p:sldId id="551" r:id="rId17"/>
    <p:sldId id="545" r:id="rId18"/>
    <p:sldId id="557" r:id="rId19"/>
    <p:sldId id="540" r:id="rId20"/>
    <p:sldId id="556" r:id="rId21"/>
    <p:sldId id="554" r:id="rId22"/>
    <p:sldId id="542" r:id="rId23"/>
    <p:sldId id="367"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3FE890-50A8-4FBC-BF02-F1872B0ABEBA}">
          <p14:sldIdLst>
            <p14:sldId id="439"/>
            <p14:sldId id="336"/>
            <p14:sldId id="487"/>
            <p14:sldId id="546"/>
            <p14:sldId id="541"/>
            <p14:sldId id="539"/>
            <p14:sldId id="538"/>
            <p14:sldId id="547"/>
            <p14:sldId id="548"/>
            <p14:sldId id="549"/>
            <p14:sldId id="550"/>
            <p14:sldId id="553"/>
            <p14:sldId id="551"/>
            <p14:sldId id="545"/>
            <p14:sldId id="557"/>
            <p14:sldId id="540"/>
            <p14:sldId id="556"/>
            <p14:sldId id="554"/>
            <p14:sldId id="542"/>
          </p14:sldIdLst>
        </p14:section>
        <p14:section name="Untitled Section" id="{B26EB6EF-A90E-4563-AE39-98D811A52E5D}">
          <p14:sldIdLst>
            <p14:sldId id="367"/>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3960"/>
    <a:srgbClr val="4F81B3"/>
    <a:srgbClr val="4F81BD"/>
    <a:srgbClr val="E9EDF4"/>
    <a:srgbClr val="D0D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2B89A7-0670-C22F-F2B5-EA5CAADE92C3}" v="18" dt="2026-01-15T23:47:52.310"/>
    <p1510:client id="{C331E79F-7E50-C94C-EB94-DD1B27ADF87C}" v="43" dt="2026-01-15T23:44:09.388"/>
    <p1510:client id="{E02625CF-CB37-6D5A-2921-7AF7087891A7}" v="1" dt="2026-01-15T23:50:08.44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20272%20Dr%20Francisco%20Garc&#237;a%20Castillo\01%20Pensiones%20y%20Seguridad%20Social\Presentaciones\1%20Ley%20del%20Seguro%20Social%20y%20Aspectos%20Vejez\Insumos\cuant&#237;a%20pensi&#243;n%20universa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MX"/>
              <a:t>Cuantía bimestral de</a:t>
            </a:r>
            <a:r>
              <a:rPr lang="es-MX" baseline="0"/>
              <a:t> la pensión universal en México</a:t>
            </a:r>
            <a:endParaRPr lang="es-MX"/>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barChart>
        <c:barDir val="col"/>
        <c:grouping val="clustered"/>
        <c:varyColors val="0"/>
        <c:ser>
          <c:idx val="0"/>
          <c:order val="0"/>
          <c:spPr>
            <a:noFill/>
            <a:ln>
              <a:solidFill>
                <a:schemeClr val="tx1"/>
              </a:solidFill>
            </a:ln>
            <a:effectLst/>
          </c:spPr>
          <c:invertIfNegative val="0"/>
          <c:dLbls>
            <c:dLbl>
              <c:idx val="0"/>
              <c:layout>
                <c:manualLayout>
                  <c:x val="0.11786892975011785"/>
                  <c:y val="-6.828851899274435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ECC-43FA-916B-EF4124CE8EEB}"/>
                </c:ext>
              </c:extLst>
            </c:dLbl>
            <c:dLbl>
              <c:idx val="1"/>
              <c:delete val="1"/>
              <c:extLst>
                <c:ext xmlns:c15="http://schemas.microsoft.com/office/drawing/2012/chart" uri="{CE6537A1-D6FC-4f65-9D91-7224C49458BB}"/>
                <c:ext xmlns:c16="http://schemas.microsoft.com/office/drawing/2014/chart" uri="{C3380CC4-5D6E-409C-BE32-E72D297353CC}">
                  <c16:uniqueId val="{00000001-9ECC-43FA-916B-EF4124CE8EEB}"/>
                </c:ext>
              </c:extLst>
            </c:dLbl>
            <c:dLbl>
              <c:idx val="2"/>
              <c:delete val="1"/>
              <c:extLst>
                <c:ext xmlns:c15="http://schemas.microsoft.com/office/drawing/2012/chart" uri="{CE6537A1-D6FC-4f65-9D91-7224C49458BB}"/>
                <c:ext xmlns:c16="http://schemas.microsoft.com/office/drawing/2014/chart" uri="{C3380CC4-5D6E-409C-BE32-E72D297353CC}">
                  <c16:uniqueId val="{00000002-9ECC-43FA-916B-EF4124CE8EEB}"/>
                </c:ext>
              </c:extLst>
            </c:dLbl>
            <c:dLbl>
              <c:idx val="3"/>
              <c:delete val="1"/>
              <c:extLst>
                <c:ext xmlns:c15="http://schemas.microsoft.com/office/drawing/2012/chart" uri="{CE6537A1-D6FC-4f65-9D91-7224C49458BB}"/>
                <c:ext xmlns:c16="http://schemas.microsoft.com/office/drawing/2014/chart" uri="{C3380CC4-5D6E-409C-BE32-E72D297353CC}">
                  <c16:uniqueId val="{00000003-9ECC-43FA-916B-EF4124CE8EEB}"/>
                </c:ext>
              </c:extLst>
            </c:dLbl>
            <c:dLbl>
              <c:idx val="4"/>
              <c:delete val="1"/>
              <c:extLst>
                <c:ext xmlns:c15="http://schemas.microsoft.com/office/drawing/2012/chart" uri="{CE6537A1-D6FC-4f65-9D91-7224C49458BB}"/>
                <c:ext xmlns:c16="http://schemas.microsoft.com/office/drawing/2014/chart" uri="{C3380CC4-5D6E-409C-BE32-E72D297353CC}">
                  <c16:uniqueId val="{00000004-9ECC-43FA-916B-EF4124CE8EEB}"/>
                </c:ext>
              </c:extLst>
            </c:dLbl>
            <c:dLbl>
              <c:idx val="5"/>
              <c:delete val="1"/>
              <c:extLst>
                <c:ext xmlns:c15="http://schemas.microsoft.com/office/drawing/2012/chart" uri="{CE6537A1-D6FC-4f65-9D91-7224C49458BB}"/>
                <c:ext xmlns:c16="http://schemas.microsoft.com/office/drawing/2014/chart" uri="{C3380CC4-5D6E-409C-BE32-E72D297353CC}">
                  <c16:uniqueId val="{00000005-9ECC-43FA-916B-EF4124CE8EEB}"/>
                </c:ext>
              </c:extLst>
            </c:dLbl>
            <c:dLbl>
              <c:idx val="7"/>
              <c:layout>
                <c:manualLayout>
                  <c:x val="9.9430331109601394E-2"/>
                  <c:y val="-6.336851939602300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ECC-43FA-916B-EF4124CE8EEB}"/>
                </c:ext>
              </c:extLst>
            </c:dLbl>
            <c:dLbl>
              <c:idx val="8"/>
              <c:delete val="1"/>
              <c:extLst>
                <c:ext xmlns:c15="http://schemas.microsoft.com/office/drawing/2012/chart" uri="{CE6537A1-D6FC-4f65-9D91-7224C49458BB}"/>
                <c:ext xmlns:c16="http://schemas.microsoft.com/office/drawing/2014/chart" uri="{C3380CC4-5D6E-409C-BE32-E72D297353CC}">
                  <c16:uniqueId val="{00000007-9ECC-43FA-916B-EF4124CE8EEB}"/>
                </c:ext>
              </c:extLst>
            </c:dLbl>
            <c:dLbl>
              <c:idx val="9"/>
              <c:delete val="1"/>
              <c:extLst>
                <c:ext xmlns:c15="http://schemas.microsoft.com/office/drawing/2012/chart" uri="{CE6537A1-D6FC-4f65-9D91-7224C49458BB}"/>
                <c:ext xmlns:c16="http://schemas.microsoft.com/office/drawing/2014/chart" uri="{C3380CC4-5D6E-409C-BE32-E72D297353CC}">
                  <c16:uniqueId val="{00000008-9ECC-43FA-916B-EF4124CE8EEB}"/>
                </c:ext>
              </c:extLst>
            </c:dLbl>
            <c:dLbl>
              <c:idx val="10"/>
              <c:delete val="1"/>
              <c:extLst>
                <c:ext xmlns:c15="http://schemas.microsoft.com/office/drawing/2012/chart" uri="{CE6537A1-D6FC-4f65-9D91-7224C49458BB}"/>
                <c:ext xmlns:c16="http://schemas.microsoft.com/office/drawing/2014/chart" uri="{C3380CC4-5D6E-409C-BE32-E72D297353CC}">
                  <c16:uniqueId val="{00000009-9ECC-43FA-916B-EF4124CE8EEB}"/>
                </c:ext>
              </c:extLst>
            </c:dLbl>
            <c:dLbl>
              <c:idx val="11"/>
              <c:delete val="1"/>
              <c:extLst>
                <c:ext xmlns:c15="http://schemas.microsoft.com/office/drawing/2012/chart" uri="{CE6537A1-D6FC-4f65-9D91-7224C49458BB}"/>
                <c:ext xmlns:c16="http://schemas.microsoft.com/office/drawing/2014/chart" uri="{C3380CC4-5D6E-409C-BE32-E72D297353CC}">
                  <c16:uniqueId val="{0000000A-9ECC-43FA-916B-EF4124CE8EEB}"/>
                </c:ext>
              </c:extLst>
            </c:dLbl>
            <c:dLbl>
              <c:idx val="13"/>
              <c:layout>
                <c:manualLayout>
                  <c:x val="0"/>
                  <c:y val="-2.77777777777777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ECC-43FA-916B-EF4124CE8EEB}"/>
                </c:ext>
              </c:extLst>
            </c:dLbl>
            <c:dLbl>
              <c:idx val="14"/>
              <c:layout>
                <c:manualLayout>
                  <c:x val="-8.3333333333334356E-3"/>
                  <c:y val="-4.16666666666667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ECC-43FA-916B-EF4124CE8EE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Sheet1!$D$5:$D$24</c:f>
              <c:numCache>
                <c:formatCode>General</c:formatCode>
                <c:ptCount val="20"/>
                <c:pt idx="0">
                  <c:v>2007</c:v>
                </c:pt>
                <c:pt idx="1">
                  <c:v>2008</c:v>
                </c:pt>
                <c:pt idx="2">
                  <c:v>2009</c:v>
                </c:pt>
                <c:pt idx="3">
                  <c:v>2010</c:v>
                </c:pt>
                <c:pt idx="4">
                  <c:v>2011</c:v>
                </c:pt>
                <c:pt idx="5">
                  <c:v>2012</c:v>
                </c:pt>
                <c:pt idx="6">
                  <c:v>2013</c:v>
                </c:pt>
                <c:pt idx="7">
                  <c:v>2014</c:v>
                </c:pt>
                <c:pt idx="8">
                  <c:v>2015</c:v>
                </c:pt>
                <c:pt idx="9">
                  <c:v>2016</c:v>
                </c:pt>
                <c:pt idx="10">
                  <c:v>2017</c:v>
                </c:pt>
                <c:pt idx="11">
                  <c:v>2018</c:v>
                </c:pt>
                <c:pt idx="12">
                  <c:v>2019</c:v>
                </c:pt>
                <c:pt idx="13">
                  <c:v>2020</c:v>
                </c:pt>
                <c:pt idx="14">
                  <c:v>2021</c:v>
                </c:pt>
                <c:pt idx="15">
                  <c:v>2022</c:v>
                </c:pt>
                <c:pt idx="16">
                  <c:v>2023</c:v>
                </c:pt>
                <c:pt idx="17">
                  <c:v>2024</c:v>
                </c:pt>
                <c:pt idx="18">
                  <c:v>2025</c:v>
                </c:pt>
                <c:pt idx="19">
                  <c:v>2026</c:v>
                </c:pt>
              </c:numCache>
            </c:numRef>
          </c:cat>
          <c:val>
            <c:numRef>
              <c:f>Sheet1!$E$5:$E$24</c:f>
              <c:numCache>
                <c:formatCode>_-* #,##0_-;\-* #,##0_-;_-* "-"??_-;_-@_-</c:formatCode>
                <c:ptCount val="20"/>
                <c:pt idx="0">
                  <c:v>1000</c:v>
                </c:pt>
                <c:pt idx="1">
                  <c:v>1000</c:v>
                </c:pt>
                <c:pt idx="2">
                  <c:v>1000</c:v>
                </c:pt>
                <c:pt idx="3">
                  <c:v>1000</c:v>
                </c:pt>
                <c:pt idx="4">
                  <c:v>1000</c:v>
                </c:pt>
                <c:pt idx="5">
                  <c:v>1000</c:v>
                </c:pt>
                <c:pt idx="6">
                  <c:v>1050</c:v>
                </c:pt>
                <c:pt idx="7">
                  <c:v>1160</c:v>
                </c:pt>
                <c:pt idx="8">
                  <c:v>1160</c:v>
                </c:pt>
                <c:pt idx="9">
                  <c:v>1160</c:v>
                </c:pt>
                <c:pt idx="10">
                  <c:v>1160</c:v>
                </c:pt>
                <c:pt idx="11">
                  <c:v>1160</c:v>
                </c:pt>
                <c:pt idx="12">
                  <c:v>2550</c:v>
                </c:pt>
                <c:pt idx="13">
                  <c:v>2620</c:v>
                </c:pt>
                <c:pt idx="14">
                  <c:v>3100</c:v>
                </c:pt>
                <c:pt idx="15">
                  <c:v>3850</c:v>
                </c:pt>
                <c:pt idx="16">
                  <c:v>4800</c:v>
                </c:pt>
                <c:pt idx="17">
                  <c:v>6000</c:v>
                </c:pt>
                <c:pt idx="18">
                  <c:v>6200</c:v>
                </c:pt>
                <c:pt idx="19">
                  <c:v>6400</c:v>
                </c:pt>
              </c:numCache>
            </c:numRef>
          </c:val>
          <c:extLst>
            <c:ext xmlns:c16="http://schemas.microsoft.com/office/drawing/2014/chart" uri="{C3380CC4-5D6E-409C-BE32-E72D297353CC}">
              <c16:uniqueId val="{0000000D-9ECC-43FA-916B-EF4124CE8EEB}"/>
            </c:ext>
          </c:extLst>
        </c:ser>
        <c:dLbls>
          <c:showLegendKey val="0"/>
          <c:showVal val="1"/>
          <c:showCatName val="0"/>
          <c:showSerName val="0"/>
          <c:showPercent val="0"/>
          <c:showBubbleSize val="0"/>
        </c:dLbls>
        <c:gapWidth val="150"/>
        <c:overlap val="-25"/>
        <c:axId val="448746111"/>
        <c:axId val="452803407"/>
      </c:barChart>
      <c:catAx>
        <c:axId val="4487461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30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MX"/>
          </a:p>
        </c:txPr>
        <c:crossAx val="452803407"/>
        <c:crosses val="autoZero"/>
        <c:auto val="1"/>
        <c:lblAlgn val="ctr"/>
        <c:lblOffset val="100"/>
        <c:noMultiLvlLbl val="0"/>
      </c:catAx>
      <c:valAx>
        <c:axId val="452803407"/>
        <c:scaling>
          <c:orientation val="minMax"/>
        </c:scaling>
        <c:delete val="1"/>
        <c:axPos val="l"/>
        <c:numFmt formatCode="_-* #,##0_-;\-* #,##0_-;_-* &quot;-&quot;??_-;_-@_-" sourceLinked="1"/>
        <c:majorTickMark val="none"/>
        <c:minorTickMark val="none"/>
        <c:tickLblPos val="nextTo"/>
        <c:crossAx val="44874611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MX"/>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06F403-C21E-4751-A523-3DC2A8FBF97A}" type="datetimeFigureOut">
              <a:rPr lang="es-MX" smtClean="0"/>
              <a:t>15/01/2026</a:t>
            </a:fld>
            <a:endParaRPr lang="es-MX"/>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30FB1F-8A5F-44C3-A7B3-BD905E0BF84E}" type="slidenum">
              <a:rPr lang="es-MX" smtClean="0"/>
              <a:t>‹#›</a:t>
            </a:fld>
            <a:endParaRPr lang="es-MX"/>
          </a:p>
        </p:txBody>
      </p:sp>
    </p:spTree>
    <p:extLst>
      <p:ext uri="{BB962C8B-B14F-4D97-AF65-F5344CB8AC3E}">
        <p14:creationId xmlns:p14="http://schemas.microsoft.com/office/powerpoint/2010/main" val="828723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C6B0C-7637-4E5B-A650-B7AB8972CA1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s-MX"/>
          </a:p>
        </p:txBody>
      </p:sp>
      <p:sp>
        <p:nvSpPr>
          <p:cNvPr id="3" name="Subtitle 2">
            <a:extLst>
              <a:ext uri="{FF2B5EF4-FFF2-40B4-BE49-F238E27FC236}">
                <a16:creationId xmlns:a16="http://schemas.microsoft.com/office/drawing/2014/main" id="{A5D5BE21-386E-4A64-9127-8845794314B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s-MX"/>
          </a:p>
        </p:txBody>
      </p:sp>
      <p:sp>
        <p:nvSpPr>
          <p:cNvPr id="4" name="Date Placeholder 3">
            <a:extLst>
              <a:ext uri="{FF2B5EF4-FFF2-40B4-BE49-F238E27FC236}">
                <a16:creationId xmlns:a16="http://schemas.microsoft.com/office/drawing/2014/main" id="{4675520E-EA92-49C9-A0E0-A7ED9DA4C0BB}"/>
              </a:ext>
            </a:extLst>
          </p:cNvPr>
          <p:cNvSpPr>
            <a:spLocks noGrp="1"/>
          </p:cNvSpPr>
          <p:nvPr>
            <p:ph type="dt" sz="half" idx="10"/>
          </p:nvPr>
        </p:nvSpPr>
        <p:spPr/>
        <p:txBody>
          <a:bodyPr/>
          <a:lstStyle/>
          <a:p>
            <a:fld id="{406B4532-6066-46FE-B392-34DC27DEAD1C}" type="datetimeFigureOut">
              <a:rPr lang="es-MX" smtClean="0"/>
              <a:t>15/01/2026</a:t>
            </a:fld>
            <a:endParaRPr lang="es-MX"/>
          </a:p>
        </p:txBody>
      </p:sp>
      <p:sp>
        <p:nvSpPr>
          <p:cNvPr id="5" name="Footer Placeholder 4">
            <a:extLst>
              <a:ext uri="{FF2B5EF4-FFF2-40B4-BE49-F238E27FC236}">
                <a16:creationId xmlns:a16="http://schemas.microsoft.com/office/drawing/2014/main" id="{F08F9EFB-AB63-4F0F-BF36-7047D5BE9A54}"/>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5124A7F4-030E-41C2-BC15-D447F5DC84E2}"/>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3452210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2BD40-AD50-452C-B6AE-A322C4CB1645}"/>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18D54932-4195-41AC-8290-2E380C4A0E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3D0AC4BE-1C2A-4844-A228-22685F501189}"/>
              </a:ext>
            </a:extLst>
          </p:cNvPr>
          <p:cNvSpPr>
            <a:spLocks noGrp="1"/>
          </p:cNvSpPr>
          <p:nvPr>
            <p:ph type="dt" sz="half" idx="10"/>
          </p:nvPr>
        </p:nvSpPr>
        <p:spPr/>
        <p:txBody>
          <a:bodyPr/>
          <a:lstStyle/>
          <a:p>
            <a:fld id="{406B4532-6066-46FE-B392-34DC27DEAD1C}" type="datetimeFigureOut">
              <a:rPr lang="es-MX" smtClean="0"/>
              <a:t>15/01/2026</a:t>
            </a:fld>
            <a:endParaRPr lang="es-MX"/>
          </a:p>
        </p:txBody>
      </p:sp>
      <p:sp>
        <p:nvSpPr>
          <p:cNvPr id="5" name="Footer Placeholder 4">
            <a:extLst>
              <a:ext uri="{FF2B5EF4-FFF2-40B4-BE49-F238E27FC236}">
                <a16:creationId xmlns:a16="http://schemas.microsoft.com/office/drawing/2014/main" id="{7FA35A10-5ED3-4E78-B7E0-845427BA3ED1}"/>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C380DE5-FB2E-48F9-ABF6-B5B95648EA06}"/>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1236123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15E6B-BD52-42A8-AF2D-3C934E50D96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A8196AC2-47A0-4FE4-B9DF-005D46E6E880}"/>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DB19EE-E66B-4D44-AA0F-584CF0B6DD56}"/>
              </a:ext>
            </a:extLst>
          </p:cNvPr>
          <p:cNvSpPr>
            <a:spLocks noGrp="1"/>
          </p:cNvSpPr>
          <p:nvPr>
            <p:ph type="dt" sz="half" idx="10"/>
          </p:nvPr>
        </p:nvSpPr>
        <p:spPr/>
        <p:txBody>
          <a:bodyPr/>
          <a:lstStyle/>
          <a:p>
            <a:fld id="{406B4532-6066-46FE-B392-34DC27DEAD1C}" type="datetimeFigureOut">
              <a:rPr lang="es-MX" smtClean="0"/>
              <a:t>15/01/2026</a:t>
            </a:fld>
            <a:endParaRPr lang="es-MX"/>
          </a:p>
        </p:txBody>
      </p:sp>
      <p:sp>
        <p:nvSpPr>
          <p:cNvPr id="5" name="Footer Placeholder 4">
            <a:extLst>
              <a:ext uri="{FF2B5EF4-FFF2-40B4-BE49-F238E27FC236}">
                <a16:creationId xmlns:a16="http://schemas.microsoft.com/office/drawing/2014/main" id="{3AB5F8A6-F44D-43C1-BED9-584E451EFE32}"/>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6A70F3F9-8471-4E6E-80B0-37AEF838F32D}"/>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3976908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7FB39-EA20-4F62-A06A-7995310C81DA}"/>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1BF6A2A4-031F-4793-9D2C-59FF4F1CCBF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5E128817-2EB3-4007-9418-BD1A827B10D3}"/>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DE2A93BB-7702-4774-960B-4123771AA7CF}"/>
              </a:ext>
            </a:extLst>
          </p:cNvPr>
          <p:cNvSpPr>
            <a:spLocks noGrp="1"/>
          </p:cNvSpPr>
          <p:nvPr>
            <p:ph type="dt" sz="half" idx="10"/>
          </p:nvPr>
        </p:nvSpPr>
        <p:spPr/>
        <p:txBody>
          <a:bodyPr/>
          <a:lstStyle/>
          <a:p>
            <a:fld id="{406B4532-6066-46FE-B392-34DC27DEAD1C}" type="datetimeFigureOut">
              <a:rPr lang="es-MX" smtClean="0"/>
              <a:t>15/01/2026</a:t>
            </a:fld>
            <a:endParaRPr lang="es-MX"/>
          </a:p>
        </p:txBody>
      </p:sp>
      <p:sp>
        <p:nvSpPr>
          <p:cNvPr id="6" name="Footer Placeholder 5">
            <a:extLst>
              <a:ext uri="{FF2B5EF4-FFF2-40B4-BE49-F238E27FC236}">
                <a16:creationId xmlns:a16="http://schemas.microsoft.com/office/drawing/2014/main" id="{1BA22C93-B8F1-4667-8ECB-C60F4F1A6F79}"/>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1A2501EF-BF4B-4F15-A4B5-26D91C849D0C}"/>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3967468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7897F-F268-4CCA-8166-14689F414C24}"/>
              </a:ext>
            </a:extLst>
          </p:cNvPr>
          <p:cNvSpPr>
            <a:spLocks noGrp="1"/>
          </p:cNvSpPr>
          <p:nvPr>
            <p:ph type="title"/>
          </p:nvPr>
        </p:nvSpPr>
        <p:spPr>
          <a:xfrm>
            <a:off x="629841" y="365126"/>
            <a:ext cx="78867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D4B6FBD3-F712-4181-8C9F-96C4CE4A055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0A90593-07EA-470D-B5F4-CFBC1BA60ED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EDBFC897-4F81-419B-94A0-2398D1C6D46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F123260-F55E-44EA-8CB6-9E6A84A88F48}"/>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D25ABD95-C6CA-4C51-9935-E39D0B7EF4A2}"/>
              </a:ext>
            </a:extLst>
          </p:cNvPr>
          <p:cNvSpPr>
            <a:spLocks noGrp="1"/>
          </p:cNvSpPr>
          <p:nvPr>
            <p:ph type="dt" sz="half" idx="10"/>
          </p:nvPr>
        </p:nvSpPr>
        <p:spPr/>
        <p:txBody>
          <a:bodyPr/>
          <a:lstStyle/>
          <a:p>
            <a:fld id="{406B4532-6066-46FE-B392-34DC27DEAD1C}" type="datetimeFigureOut">
              <a:rPr lang="es-MX" smtClean="0"/>
              <a:t>15/01/2026</a:t>
            </a:fld>
            <a:endParaRPr lang="es-MX"/>
          </a:p>
        </p:txBody>
      </p:sp>
      <p:sp>
        <p:nvSpPr>
          <p:cNvPr id="8" name="Footer Placeholder 7">
            <a:extLst>
              <a:ext uri="{FF2B5EF4-FFF2-40B4-BE49-F238E27FC236}">
                <a16:creationId xmlns:a16="http://schemas.microsoft.com/office/drawing/2014/main" id="{67C3A05F-6767-4CC2-9117-6EEEEB881F77}"/>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B3AAED9E-5651-4733-928E-02BB5B90D7BB}"/>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153873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05E0E-F99D-4E80-BB44-289AE9B546B7}"/>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7EB38297-6386-45AA-9B82-B362F8C093A1}"/>
              </a:ext>
            </a:extLst>
          </p:cNvPr>
          <p:cNvSpPr>
            <a:spLocks noGrp="1"/>
          </p:cNvSpPr>
          <p:nvPr>
            <p:ph type="dt" sz="half" idx="10"/>
          </p:nvPr>
        </p:nvSpPr>
        <p:spPr/>
        <p:txBody>
          <a:bodyPr/>
          <a:lstStyle/>
          <a:p>
            <a:fld id="{406B4532-6066-46FE-B392-34DC27DEAD1C}" type="datetimeFigureOut">
              <a:rPr lang="es-MX" smtClean="0"/>
              <a:t>15/01/2026</a:t>
            </a:fld>
            <a:endParaRPr lang="es-MX"/>
          </a:p>
        </p:txBody>
      </p:sp>
      <p:sp>
        <p:nvSpPr>
          <p:cNvPr id="4" name="Footer Placeholder 3">
            <a:extLst>
              <a:ext uri="{FF2B5EF4-FFF2-40B4-BE49-F238E27FC236}">
                <a16:creationId xmlns:a16="http://schemas.microsoft.com/office/drawing/2014/main" id="{19716F72-7B1D-479B-9378-438A641AD36E}"/>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315F60BA-1E0D-4708-A67D-DB88A13745B0}"/>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136677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C8714E-31F7-4ACF-8DEA-72EE4CFF838E}"/>
              </a:ext>
            </a:extLst>
          </p:cNvPr>
          <p:cNvSpPr>
            <a:spLocks noGrp="1"/>
          </p:cNvSpPr>
          <p:nvPr>
            <p:ph type="dt" sz="half" idx="10"/>
          </p:nvPr>
        </p:nvSpPr>
        <p:spPr/>
        <p:txBody>
          <a:bodyPr/>
          <a:lstStyle/>
          <a:p>
            <a:fld id="{406B4532-6066-46FE-B392-34DC27DEAD1C}" type="datetimeFigureOut">
              <a:rPr lang="es-MX" smtClean="0"/>
              <a:t>15/01/2026</a:t>
            </a:fld>
            <a:endParaRPr lang="es-MX"/>
          </a:p>
        </p:txBody>
      </p:sp>
      <p:sp>
        <p:nvSpPr>
          <p:cNvPr id="3" name="Footer Placeholder 2">
            <a:extLst>
              <a:ext uri="{FF2B5EF4-FFF2-40B4-BE49-F238E27FC236}">
                <a16:creationId xmlns:a16="http://schemas.microsoft.com/office/drawing/2014/main" id="{31B013A1-145F-4C4C-9A9E-CF68AEDC68FD}"/>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27A2B6DB-CF63-4159-9BEB-75CDE470D789}"/>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2653534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2220B-E79D-4A7B-8EDF-642E5D3444D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4015789C-B757-44EE-964C-D8624F8D1B2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1D38C445-53CA-4F76-88F6-CE4B7AF7B06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BB37D17-FD41-4CDA-95B8-75403B7445E7}"/>
              </a:ext>
            </a:extLst>
          </p:cNvPr>
          <p:cNvSpPr>
            <a:spLocks noGrp="1"/>
          </p:cNvSpPr>
          <p:nvPr>
            <p:ph type="dt" sz="half" idx="10"/>
          </p:nvPr>
        </p:nvSpPr>
        <p:spPr/>
        <p:txBody>
          <a:bodyPr/>
          <a:lstStyle/>
          <a:p>
            <a:fld id="{406B4532-6066-46FE-B392-34DC27DEAD1C}" type="datetimeFigureOut">
              <a:rPr lang="es-MX" smtClean="0"/>
              <a:t>15/01/2026</a:t>
            </a:fld>
            <a:endParaRPr lang="es-MX"/>
          </a:p>
        </p:txBody>
      </p:sp>
      <p:sp>
        <p:nvSpPr>
          <p:cNvPr id="6" name="Footer Placeholder 5">
            <a:extLst>
              <a:ext uri="{FF2B5EF4-FFF2-40B4-BE49-F238E27FC236}">
                <a16:creationId xmlns:a16="http://schemas.microsoft.com/office/drawing/2014/main" id="{8DE26C59-3DF6-4666-9998-E58D3FE5E714}"/>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10D54C09-B144-47D0-95A2-468F121FB70C}"/>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266607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10EF9-635B-4448-9574-BD2970C49B7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373A1C23-E56A-45BD-8A15-0A34F46EF7D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MX"/>
          </a:p>
        </p:txBody>
      </p:sp>
      <p:sp>
        <p:nvSpPr>
          <p:cNvPr id="4" name="Text Placeholder 3">
            <a:extLst>
              <a:ext uri="{FF2B5EF4-FFF2-40B4-BE49-F238E27FC236}">
                <a16:creationId xmlns:a16="http://schemas.microsoft.com/office/drawing/2014/main" id="{8BADDDDB-A8A1-4CEB-95FB-548656FE823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3E89AA1-B419-46C6-8CA6-F9F3165B754B}"/>
              </a:ext>
            </a:extLst>
          </p:cNvPr>
          <p:cNvSpPr>
            <a:spLocks noGrp="1"/>
          </p:cNvSpPr>
          <p:nvPr>
            <p:ph type="dt" sz="half" idx="10"/>
          </p:nvPr>
        </p:nvSpPr>
        <p:spPr/>
        <p:txBody>
          <a:bodyPr/>
          <a:lstStyle/>
          <a:p>
            <a:fld id="{406B4532-6066-46FE-B392-34DC27DEAD1C}" type="datetimeFigureOut">
              <a:rPr lang="es-MX" smtClean="0"/>
              <a:t>15/01/2026</a:t>
            </a:fld>
            <a:endParaRPr lang="es-MX"/>
          </a:p>
        </p:txBody>
      </p:sp>
      <p:sp>
        <p:nvSpPr>
          <p:cNvPr id="6" name="Footer Placeholder 5">
            <a:extLst>
              <a:ext uri="{FF2B5EF4-FFF2-40B4-BE49-F238E27FC236}">
                <a16:creationId xmlns:a16="http://schemas.microsoft.com/office/drawing/2014/main" id="{5A5F23E9-47FF-4570-BC62-027D980B873E}"/>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B591656-F133-425A-8631-C7126C23AD05}"/>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2297576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B8FDB-D971-4A1C-B4D6-A41CF6AEFA60}"/>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120A07AD-296D-4430-B0FE-03941B1B30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B19F6371-F479-4239-81B0-821174C0E50C}"/>
              </a:ext>
            </a:extLst>
          </p:cNvPr>
          <p:cNvSpPr>
            <a:spLocks noGrp="1"/>
          </p:cNvSpPr>
          <p:nvPr>
            <p:ph type="dt" sz="half" idx="10"/>
          </p:nvPr>
        </p:nvSpPr>
        <p:spPr/>
        <p:txBody>
          <a:bodyPr/>
          <a:lstStyle/>
          <a:p>
            <a:fld id="{406B4532-6066-46FE-B392-34DC27DEAD1C}" type="datetimeFigureOut">
              <a:rPr lang="es-MX" smtClean="0"/>
              <a:t>15/01/2026</a:t>
            </a:fld>
            <a:endParaRPr lang="es-MX"/>
          </a:p>
        </p:txBody>
      </p:sp>
      <p:sp>
        <p:nvSpPr>
          <p:cNvPr id="5" name="Footer Placeholder 4">
            <a:extLst>
              <a:ext uri="{FF2B5EF4-FFF2-40B4-BE49-F238E27FC236}">
                <a16:creationId xmlns:a16="http://schemas.microsoft.com/office/drawing/2014/main" id="{A1B8FF72-4019-4669-896F-20CB3AF1D798}"/>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90CEDD4E-8AE1-4C9F-B76D-922C0560D4D5}"/>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237610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C7EBE3-7D15-438D-BAB9-5018FBBDF214}"/>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74CE0AAB-8041-4496-A104-843F5ECBD1B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CEDC9968-AC73-4679-80C5-6520DD9A2E90}"/>
              </a:ext>
            </a:extLst>
          </p:cNvPr>
          <p:cNvSpPr>
            <a:spLocks noGrp="1"/>
          </p:cNvSpPr>
          <p:nvPr>
            <p:ph type="dt" sz="half" idx="10"/>
          </p:nvPr>
        </p:nvSpPr>
        <p:spPr/>
        <p:txBody>
          <a:bodyPr/>
          <a:lstStyle/>
          <a:p>
            <a:fld id="{406B4532-6066-46FE-B392-34DC27DEAD1C}" type="datetimeFigureOut">
              <a:rPr lang="es-MX" smtClean="0"/>
              <a:t>15/01/2026</a:t>
            </a:fld>
            <a:endParaRPr lang="es-MX"/>
          </a:p>
        </p:txBody>
      </p:sp>
      <p:sp>
        <p:nvSpPr>
          <p:cNvPr id="5" name="Footer Placeholder 4">
            <a:extLst>
              <a:ext uri="{FF2B5EF4-FFF2-40B4-BE49-F238E27FC236}">
                <a16:creationId xmlns:a16="http://schemas.microsoft.com/office/drawing/2014/main" id="{18797D93-AF3F-4760-A1D4-7C439C89BB23}"/>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A1AA80E0-A24B-4216-BC70-113856A0A5B7}"/>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2748111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631F64-5B49-47F1-B166-E8A0330EC0B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09569584-F8DB-4D3D-B6E5-A7467C5D4D1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F786B8E6-2418-4444-A384-600F9BDBD8A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06B4532-6066-46FE-B392-34DC27DEAD1C}" type="datetimeFigureOut">
              <a:rPr lang="es-MX" smtClean="0"/>
              <a:t>15/01/2026</a:t>
            </a:fld>
            <a:endParaRPr lang="es-MX"/>
          </a:p>
        </p:txBody>
      </p:sp>
      <p:sp>
        <p:nvSpPr>
          <p:cNvPr id="5" name="Footer Placeholder 4">
            <a:extLst>
              <a:ext uri="{FF2B5EF4-FFF2-40B4-BE49-F238E27FC236}">
                <a16:creationId xmlns:a16="http://schemas.microsoft.com/office/drawing/2014/main" id="{DE4A4435-5D2E-4277-A0F8-6F98A200FF9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MX"/>
          </a:p>
        </p:txBody>
      </p:sp>
      <p:sp>
        <p:nvSpPr>
          <p:cNvPr id="6" name="Slide Number Placeholder 5">
            <a:extLst>
              <a:ext uri="{FF2B5EF4-FFF2-40B4-BE49-F238E27FC236}">
                <a16:creationId xmlns:a16="http://schemas.microsoft.com/office/drawing/2014/main" id="{135C7448-A96E-4ABF-ACA4-F704F1BB8FB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BE17CB-E861-4045-9568-6D0C29872F63}" type="slidenum">
              <a:rPr lang="es-MX" smtClean="0"/>
              <a:t>‹#›</a:t>
            </a:fld>
            <a:endParaRPr lang="es-MX"/>
          </a:p>
        </p:txBody>
      </p:sp>
    </p:spTree>
    <p:extLst>
      <p:ext uri="{BB962C8B-B14F-4D97-AF65-F5344CB8AC3E}">
        <p14:creationId xmlns:p14="http://schemas.microsoft.com/office/powerpoint/2010/main" val="16717390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MX"/>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4">
            <a:extLst>
              <a:ext uri="{FF2B5EF4-FFF2-40B4-BE49-F238E27FC236}">
                <a16:creationId xmlns:a16="http://schemas.microsoft.com/office/drawing/2014/main" id="{9B7A4424-783D-4A95-8835-C61F370B49DF}"/>
              </a:ext>
            </a:extLst>
          </p:cNvPr>
          <p:cNvCxnSpPr/>
          <p:nvPr/>
        </p:nvCxnSpPr>
        <p:spPr>
          <a:xfrm>
            <a:off x="248216" y="3125645"/>
            <a:ext cx="8604000" cy="1588"/>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8">
            <a:extLst>
              <a:ext uri="{FF2B5EF4-FFF2-40B4-BE49-F238E27FC236}">
                <a16:creationId xmlns:a16="http://schemas.microsoft.com/office/drawing/2014/main" id="{F2A591AF-2F4A-413C-9AF6-F87F6CF57B05}"/>
              </a:ext>
            </a:extLst>
          </p:cNvPr>
          <p:cNvSpPr txBox="1"/>
          <p:nvPr/>
        </p:nvSpPr>
        <p:spPr>
          <a:xfrm>
            <a:off x="299230" y="2650129"/>
            <a:ext cx="8552986" cy="461647"/>
          </a:xfrm>
          <a:prstGeom prst="rect">
            <a:avLst/>
          </a:prstGeom>
          <a:noFill/>
        </p:spPr>
        <p:txBody>
          <a:bodyPr wrap="square" lIns="91420" tIns="45711" rIns="91420" bIns="45711">
            <a:spAutoFit/>
          </a:bodyPr>
          <a:lstStyle/>
          <a:p>
            <a:pPr lvl="0" fontAlgn="base">
              <a:spcBef>
                <a:spcPct val="0"/>
              </a:spcBef>
              <a:spcAft>
                <a:spcPct val="0"/>
              </a:spcAft>
              <a:defRPr/>
            </a:pPr>
            <a:r>
              <a:rPr kumimoji="0" lang="es-MX" sz="2400" b="1" i="1" u="none" strike="noStrike" kern="1200" cap="none" spc="0" normalizeH="0" baseline="0" noProof="0">
                <a:ln>
                  <a:noFill/>
                </a:ln>
                <a:solidFill>
                  <a:srgbClr val="1E3960"/>
                </a:solidFill>
                <a:effectLst/>
                <a:uLnTx/>
                <a:uFillTx/>
                <a:latin typeface="Verdana" panose="020B0604030504040204" pitchFamily="34" charset="0"/>
                <a:ea typeface="Verdana" panose="020B0604030504040204" pitchFamily="34" charset="0"/>
              </a:rPr>
              <a:t>Seguridad Social y Pensiones</a:t>
            </a:r>
          </a:p>
        </p:txBody>
      </p:sp>
      <p:sp>
        <p:nvSpPr>
          <p:cNvPr id="6" name="TextBox 8">
            <a:extLst>
              <a:ext uri="{FF2B5EF4-FFF2-40B4-BE49-F238E27FC236}">
                <a16:creationId xmlns:a16="http://schemas.microsoft.com/office/drawing/2014/main" id="{7CA720E0-EB0C-4B0C-96CC-2776E7A4C881}"/>
              </a:ext>
            </a:extLst>
          </p:cNvPr>
          <p:cNvSpPr txBox="1"/>
          <p:nvPr/>
        </p:nvSpPr>
        <p:spPr>
          <a:xfrm>
            <a:off x="4626596" y="5899973"/>
            <a:ext cx="4266976" cy="400091"/>
          </a:xfrm>
          <a:prstGeom prst="rect">
            <a:avLst/>
          </a:prstGeom>
          <a:noFill/>
        </p:spPr>
        <p:txBody>
          <a:bodyPr wrap="square" lIns="91420" tIns="45711" rIns="91420" bIns="45711">
            <a:spAutoFit/>
          </a:bodyPr>
          <a:lstStyle/>
          <a:p>
            <a:pPr marL="0" marR="0" lvl="0" indent="0" algn="r" defTabSz="4572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a:ln>
                  <a:noFill/>
                </a:ln>
                <a:solidFill>
                  <a:srgbClr val="1E3960"/>
                </a:solidFill>
                <a:effectLst/>
                <a:uLnTx/>
                <a:uFillTx/>
                <a:latin typeface="Verdana" panose="020B0604030504040204" pitchFamily="34" charset="0"/>
                <a:ea typeface="Verdana" panose="020B0604030504040204" pitchFamily="34" charset="0"/>
              </a:rPr>
              <a:t>Francisco García Castillo</a:t>
            </a:r>
          </a:p>
        </p:txBody>
      </p:sp>
    </p:spTree>
    <p:extLst>
      <p:ext uri="{BB962C8B-B14F-4D97-AF65-F5344CB8AC3E}">
        <p14:creationId xmlns:p14="http://schemas.microsoft.com/office/powerpoint/2010/main" val="348141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F6A8E41B-3FCD-4813-B6B9-630BF74E83E1}"/>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Rectángulo 4">
            <a:extLst>
              <a:ext uri="{FF2B5EF4-FFF2-40B4-BE49-F238E27FC236}">
                <a16:creationId xmlns:a16="http://schemas.microsoft.com/office/drawing/2014/main" id="{5BBA86B9-43B5-4B9E-B251-4908E682400F}"/>
              </a:ext>
            </a:extLst>
          </p:cNvPr>
          <p:cNvSpPr/>
          <p:nvPr/>
        </p:nvSpPr>
        <p:spPr>
          <a:xfrm>
            <a:off x="256315" y="281921"/>
            <a:ext cx="8640000" cy="461665"/>
          </a:xfrm>
          <a:prstGeom prst="rect">
            <a:avLst/>
          </a:prstGeom>
        </p:spPr>
        <p:txBody>
          <a:bodyPr wrap="square">
            <a:spAutoFit/>
          </a:bodyPr>
          <a:lstStyle/>
          <a:p>
            <a:r>
              <a:rPr lang="es-MX" sz="2400" b="1" i="1">
                <a:solidFill>
                  <a:srgbClr val="1E3960"/>
                </a:solidFill>
              </a:rPr>
              <a:t>Syllabus</a:t>
            </a:r>
          </a:p>
        </p:txBody>
      </p:sp>
      <p:sp>
        <p:nvSpPr>
          <p:cNvPr id="7"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976191"/>
            <a:ext cx="8640000" cy="565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85000" lnSpcReduction="20000"/>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265113" lvl="0" indent="-265113" defTabSz="914400" eaLnBrk="1" hangingPunct="1">
              <a:lnSpc>
                <a:spcPct val="160000"/>
              </a:lnSpc>
              <a:buClrTx/>
              <a:buFont typeface="Wingdings" panose="05000000000000000000" pitchFamily="2" charset="2"/>
              <a:buChar char="q"/>
              <a:defRPr/>
            </a:pPr>
            <a:r>
              <a:rPr lang="es-MX" sz="1400" kern="0">
                <a:latin typeface="Verdana"/>
              </a:rPr>
              <a:t>Esquemas de planes de pensiones</a:t>
            </a:r>
          </a:p>
          <a:p>
            <a:pPr marL="265113" lvl="0" indent="-265113" defTabSz="914400" eaLnBrk="1" hangingPunct="1">
              <a:lnSpc>
                <a:spcPct val="160000"/>
              </a:lnSpc>
              <a:buClrTx/>
              <a:buFont typeface="Wingdings" panose="05000000000000000000" pitchFamily="2" charset="2"/>
              <a:buChar char="q"/>
              <a:defRPr/>
            </a:pPr>
            <a:r>
              <a:rPr lang="es-MX" sz="1400" kern="0">
                <a:solidFill>
                  <a:schemeClr val="bg1">
                    <a:lumMod val="85000"/>
                  </a:schemeClr>
                </a:solidFill>
                <a:latin typeface="Verdana"/>
              </a:rPr>
              <a:t>La Ley del Seguro Social y diversos aspectos de la vejez en México</a:t>
            </a:r>
          </a:p>
          <a:p>
            <a:pPr marL="685800" lvl="1" defTabSz="914400" eaLnBrk="1" hangingPunct="1">
              <a:lnSpc>
                <a:spcPct val="160000"/>
              </a:lnSpc>
              <a:buClrTx/>
              <a:buFont typeface="Courier New" panose="02070309020205020404" pitchFamily="49" charset="0"/>
              <a:buChar char="o"/>
              <a:defRPr/>
            </a:pPr>
            <a:r>
              <a:rPr lang="es-MX" kern="0">
                <a:solidFill>
                  <a:schemeClr val="bg1">
                    <a:lumMod val="85000"/>
                  </a:schemeClr>
                </a:solidFill>
                <a:latin typeface="Verdana"/>
              </a:rPr>
              <a:t>Ley del Seguro Social (con reformas vigentes a partir del 01 de enero de 2021)</a:t>
            </a:r>
          </a:p>
          <a:p>
            <a:pPr marL="685800" lvl="1" defTabSz="914400" eaLnBrk="1" hangingPunct="1">
              <a:lnSpc>
                <a:spcPct val="160000"/>
              </a:lnSpc>
              <a:buClrTx/>
              <a:buFont typeface="Courier New" panose="02070309020205020404" pitchFamily="49" charset="0"/>
              <a:buChar char="o"/>
              <a:defRPr/>
            </a:pPr>
            <a:r>
              <a:rPr lang="es-MX" kern="0">
                <a:solidFill>
                  <a:schemeClr val="bg1">
                    <a:lumMod val="85000"/>
                  </a:schemeClr>
                </a:solidFill>
                <a:latin typeface="Verdana"/>
              </a:rPr>
              <a:t>Aspectos de la vejez en México</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MX" kern="0">
                <a:solidFill>
                  <a:schemeClr val="bg1">
                    <a:lumMod val="85000"/>
                  </a:schemeClr>
                </a:solidFill>
                <a:latin typeface="Verdana"/>
              </a:rPr>
              <a:t>Ley del Seguro Social de 1973</a:t>
            </a:r>
          </a:p>
          <a:p>
            <a:pPr marL="265113" lvl="0" indent="-265113" defTabSz="914400" eaLnBrk="1" hangingPunct="1">
              <a:lnSpc>
                <a:spcPct val="160000"/>
              </a:lnSpc>
              <a:buClr>
                <a:schemeClr val="bg1">
                  <a:lumMod val="85000"/>
                </a:schemeClr>
              </a:buClr>
              <a:buFont typeface="Wingdings" panose="05000000000000000000" pitchFamily="2" charset="2"/>
              <a:buChar char="q"/>
              <a:defRPr/>
            </a:pPr>
            <a:r>
              <a:rPr lang="es-ES" sz="1400" kern="0">
                <a:solidFill>
                  <a:schemeClr val="bg1">
                    <a:lumMod val="85000"/>
                  </a:schemeClr>
                </a:solidFill>
                <a:latin typeface="Verdana"/>
              </a:rPr>
              <a:t>Ejemplo de la Nota Técnica para la determinación del Monto Constitutivo para las Pensiones Derivadas de la Seguridad Social:</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ES" kern="0">
                <a:solidFill>
                  <a:schemeClr val="bg1">
                    <a:lumMod val="85000"/>
                  </a:schemeClr>
                </a:solidFill>
                <a:latin typeface="Verdana"/>
              </a:rPr>
              <a:t>Seguro de Invalidez</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ES" kern="0">
                <a:solidFill>
                  <a:schemeClr val="bg1">
                    <a:lumMod val="85000"/>
                  </a:schemeClr>
                </a:solidFill>
                <a:latin typeface="Verdana"/>
              </a:rPr>
              <a:t> Caso del Seguro de Retiro.</a:t>
            </a:r>
            <a:endParaRPr lang="es-MX" kern="0">
              <a:solidFill>
                <a:schemeClr val="bg1">
                  <a:lumMod val="85000"/>
                </a:schemeClr>
              </a:solidFill>
              <a:latin typeface="Verdana"/>
            </a:endParaRPr>
          </a:p>
          <a:p>
            <a:pPr marL="265113" indent="-265113" defTabSz="914400" eaLnBrk="1" hangingPunct="1">
              <a:lnSpc>
                <a:spcPct val="160000"/>
              </a:lnSpc>
              <a:buClr>
                <a:schemeClr val="bg1">
                  <a:lumMod val="85000"/>
                </a:schemeClr>
              </a:buClr>
              <a:buFont typeface="Wingdings" panose="05000000000000000000" pitchFamily="2" charset="2"/>
              <a:buChar char="q"/>
              <a:defRPr/>
            </a:pPr>
            <a:r>
              <a:rPr lang="es-MX" sz="1400" kern="0">
                <a:solidFill>
                  <a:schemeClr val="bg1">
                    <a:lumMod val="85000"/>
                  </a:schemeClr>
                </a:solidFill>
                <a:latin typeface="Verdana"/>
              </a:rPr>
              <a:t>Planes privados de pensiones</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MX" kern="0">
                <a:solidFill>
                  <a:schemeClr val="bg1">
                    <a:lumMod val="85000"/>
                  </a:schemeClr>
                </a:solidFill>
                <a:latin typeface="Verdana"/>
              </a:rPr>
              <a:t>Diseño del plan de pensiones</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MX" kern="0">
                <a:solidFill>
                  <a:schemeClr val="bg1">
                    <a:lumMod val="85000"/>
                  </a:schemeClr>
                </a:solidFill>
                <a:latin typeface="Verdana"/>
              </a:rPr>
              <a:t>Generalidades sobre la valuación actuarial del plan</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MX" kern="0">
                <a:solidFill>
                  <a:schemeClr val="bg1">
                    <a:lumMod val="85000"/>
                  </a:schemeClr>
                </a:solidFill>
                <a:latin typeface="Verdana"/>
              </a:rPr>
              <a:t>Selección de hipótesis actuariales</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MX" kern="0">
                <a:solidFill>
                  <a:schemeClr val="bg1">
                    <a:lumMod val="85000"/>
                  </a:schemeClr>
                </a:solidFill>
                <a:latin typeface="Verdana"/>
              </a:rPr>
              <a:t>Selección de métodos de costeo actuarial</a:t>
            </a:r>
          </a:p>
          <a:p>
            <a:pPr marL="265113" indent="-265113" defTabSz="914400" eaLnBrk="1" hangingPunct="1">
              <a:lnSpc>
                <a:spcPct val="160000"/>
              </a:lnSpc>
              <a:buClr>
                <a:schemeClr val="bg1">
                  <a:lumMod val="85000"/>
                </a:schemeClr>
              </a:buClr>
              <a:buFont typeface="Wingdings" panose="05000000000000000000" pitchFamily="2" charset="2"/>
              <a:buChar char="q"/>
              <a:defRPr/>
            </a:pPr>
            <a:r>
              <a:rPr lang="es-MX" sz="1400" kern="0">
                <a:solidFill>
                  <a:schemeClr val="bg1">
                    <a:lumMod val="85000"/>
                  </a:schemeClr>
                </a:solidFill>
                <a:latin typeface="Verdana"/>
              </a:rPr>
              <a:t>Aspectos contables y financieros (Boletín D 3) e implantación del plan de pensiones.</a:t>
            </a:r>
          </a:p>
        </p:txBody>
      </p:sp>
    </p:spTree>
    <p:extLst>
      <p:ext uri="{BB962C8B-B14F-4D97-AF65-F5344CB8AC3E}">
        <p14:creationId xmlns:p14="http://schemas.microsoft.com/office/powerpoint/2010/main" val="2917422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1631297"/>
            <a:ext cx="8628076" cy="495458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Una pensión es una renta de dinero que recibe una persona al momento de ocurrir una contingencia de vida: la invalidez, la muerte, o concluir su vida laboral por cesantía en edad avanzada o vejez</a:t>
            </a:r>
            <a:r>
              <a:rPr lang="es-MX" sz="1800" baseline="30000">
                <a:latin typeface="Verdana" panose="020B0604030504040204" pitchFamily="34" charset="0"/>
                <a:ea typeface="Verdana" panose="020B0604030504040204" pitchFamily="34" charset="0"/>
              </a:rPr>
              <a:t>*</a:t>
            </a:r>
            <a:r>
              <a:rPr lang="es-MX" sz="1800" kern="0">
                <a:solidFill>
                  <a:srgbClr val="000000"/>
                </a:solidFill>
                <a:latin typeface="Verdana"/>
              </a:rPr>
              <a:t>. </a:t>
            </a:r>
          </a:p>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Son una prestación legal, y permite la planeación y certeza de los trabajadores y sus beneficiarios, pues representa un instrumento que sustituye el ingreso laboral que se deja de percibir al ocurrir alguna de las contingencias cubiertas.</a:t>
            </a:r>
          </a:p>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En particular, es una condición esencial para proteger la subsistencia en la edad adulta mayor.</a:t>
            </a:r>
          </a:p>
        </p:txBody>
      </p: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 name="Rectangle 2"/>
          <p:cNvSpPr/>
          <p:nvPr/>
        </p:nvSpPr>
        <p:spPr>
          <a:xfrm>
            <a:off x="184855" y="6165827"/>
            <a:ext cx="8723620" cy="461665"/>
          </a:xfrm>
          <a:prstGeom prst="rect">
            <a:avLst/>
          </a:prstGeom>
        </p:spPr>
        <p:txBody>
          <a:bodyPr wrap="square">
            <a:spAutoFit/>
          </a:bodyPr>
          <a:lstStyle/>
          <a:p>
            <a:pPr algn="just"/>
            <a:r>
              <a:rPr lang="es-MX" sz="1200" baseline="30000">
                <a:latin typeface="Verdana" panose="020B0604030504040204" pitchFamily="34" charset="0"/>
                <a:ea typeface="Verdana" panose="020B0604030504040204" pitchFamily="34" charset="0"/>
              </a:rPr>
              <a:t>*</a:t>
            </a:r>
            <a:r>
              <a:rPr lang="es-MX" sz="1200">
                <a:latin typeface="Verdana" panose="020B0604030504040204" pitchFamily="34" charset="0"/>
                <a:ea typeface="Verdana" panose="020B0604030504040204" pitchFamily="34" charset="0"/>
              </a:rPr>
              <a:t> Fuente: El panorama de las pensiones en México. Véase https://imco.org.mx/el-panorama-de-las-pensiones-en-mexico/</a:t>
            </a:r>
          </a:p>
        </p:txBody>
      </p:sp>
    </p:spTree>
    <p:extLst>
      <p:ext uri="{BB962C8B-B14F-4D97-AF65-F5344CB8AC3E}">
        <p14:creationId xmlns:p14="http://schemas.microsoft.com/office/powerpoint/2010/main" val="2736385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1631297"/>
            <a:ext cx="8628076" cy="32000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En particular, la pensión para el retiro se puede asegurar mediante diversos esquemas o modelos: algunos trabajadores tienen acceso a esquemas de ahorro para el retiro privados que les permiten acumular e invertir una parte de sus ingresos laborales para usarlos durante la vejez</a:t>
            </a:r>
            <a:r>
              <a:rPr lang="es-MX" sz="1800" kern="0" baseline="30000">
                <a:solidFill>
                  <a:srgbClr val="000000"/>
                </a:solidFill>
                <a:latin typeface="Verdana"/>
              </a:rPr>
              <a:t>*</a:t>
            </a:r>
            <a:r>
              <a:rPr lang="es-MX" sz="1800" kern="0">
                <a:solidFill>
                  <a:srgbClr val="000000"/>
                </a:solidFill>
                <a:latin typeface="Verdana"/>
              </a:rPr>
              <a:t>; y otros tienen las prestaciones derivadas de la seguridad social.</a:t>
            </a:r>
          </a:p>
        </p:txBody>
      </p: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 name="Rectangle 1"/>
          <p:cNvSpPr/>
          <p:nvPr/>
        </p:nvSpPr>
        <p:spPr>
          <a:xfrm>
            <a:off x="202273" y="5779285"/>
            <a:ext cx="8727478" cy="830997"/>
          </a:xfrm>
          <a:prstGeom prst="rect">
            <a:avLst/>
          </a:prstGeom>
        </p:spPr>
        <p:txBody>
          <a:bodyPr wrap="square">
            <a:spAutoFit/>
          </a:bodyPr>
          <a:lstStyle/>
          <a:p>
            <a:pPr algn="just"/>
            <a:r>
              <a:rPr lang="es-MX" sz="1200" baseline="30000">
                <a:latin typeface="Verdana" panose="020B0604030504040204" pitchFamily="34" charset="0"/>
                <a:ea typeface="Verdana" panose="020B0604030504040204" pitchFamily="34" charset="0"/>
              </a:rPr>
              <a:t>*</a:t>
            </a:r>
            <a:r>
              <a:rPr lang="es-MX" sz="1200">
                <a:latin typeface="Verdana" panose="020B0604030504040204" pitchFamily="34" charset="0"/>
                <a:ea typeface="Verdana" panose="020B0604030504040204" pitchFamily="34" charset="0"/>
              </a:rPr>
              <a:t> La Ley del Seguro Social ofrece incentivos a las empresas para que constituyan y brinden a sus trabajadores Planes Privados de Pensiones adicionales al régimen obligatorio del Seguro Social y faculta a la CONSAR para establecer los requisitos que deben cumplir dichos planes para poder gozar del beneficio señalado en las Disposiciones de Carácter General Aplicables a Planes de Pensiones emitidas por CONSAR.</a:t>
            </a:r>
          </a:p>
        </p:txBody>
      </p:sp>
    </p:spTree>
    <p:extLst>
      <p:ext uri="{BB962C8B-B14F-4D97-AF65-F5344CB8AC3E}">
        <p14:creationId xmlns:p14="http://schemas.microsoft.com/office/powerpoint/2010/main" val="2622194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 name="Oval Callout 31">
            <a:extLst>
              <a:ext uri="{FF2B5EF4-FFF2-40B4-BE49-F238E27FC236}">
                <a16:creationId xmlns:a16="http://schemas.microsoft.com/office/drawing/2014/main" id="{D2A59D68-8F3B-1BDC-FA32-5C49B840EB20}"/>
              </a:ext>
            </a:extLst>
          </p:cNvPr>
          <p:cNvSpPr/>
          <p:nvPr/>
        </p:nvSpPr>
        <p:spPr bwMode="auto">
          <a:xfrm>
            <a:off x="3998068" y="1359207"/>
            <a:ext cx="4868839" cy="4358398"/>
          </a:xfrm>
          <a:prstGeom prst="wedgeEllipseCallout">
            <a:avLst>
              <a:gd name="adj1" fmla="val -71543"/>
              <a:gd name="adj2" fmla="val 3047"/>
            </a:avLst>
          </a:prstGeom>
          <a:noFill/>
          <a:ln w="22225" cap="flat" cmpd="sng" algn="ctr">
            <a:solidFill>
              <a:srgbClr val="008080"/>
            </a:solid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spAutoFit/>
          </a:bodyPr>
          <a:lstStyle/>
          <a:p>
            <a:pPr lvl="0" defTabSz="914400">
              <a:lnSpc>
                <a:spcPct val="150000"/>
              </a:lnSpc>
              <a:spcBef>
                <a:spcPts val="600"/>
              </a:spcBef>
              <a:spcAft>
                <a:spcPts val="600"/>
              </a:spcAft>
              <a:buClr>
                <a:srgbClr val="1E3960"/>
              </a:buClr>
              <a:defRPr/>
            </a:pPr>
            <a:r>
              <a:rPr lang="es-MX" sz="1200" kern="0">
                <a:solidFill>
                  <a:srgbClr val="000000"/>
                </a:solidFill>
                <a:latin typeface="Verdana"/>
              </a:rPr>
              <a:t>Sin embargo, por las condiciones actuales del sistema de seguridad social, hay un </a:t>
            </a:r>
            <a:r>
              <a:rPr lang="es-MX" sz="1200" b="1" i="1" kern="0">
                <a:solidFill>
                  <a:srgbClr val="000000"/>
                </a:solidFill>
                <a:latin typeface="Verdana"/>
              </a:rPr>
              <a:t>gran sector de la población que no participa </a:t>
            </a:r>
            <a:r>
              <a:rPr lang="es-MX" sz="1200" kern="0">
                <a:solidFill>
                  <a:srgbClr val="000000"/>
                </a:solidFill>
                <a:latin typeface="Verdana"/>
              </a:rPr>
              <a:t>en ningún sistema de ahorro para el retiro formal, o que no cuenta con ingresos suficientes para ahorrar y se ve orillado a continuar trabajando o depender de apoyos económicos externos para subsistir en la vejez, ya sea de personas cercanas y por parte de la asistencia social del gobierno.</a:t>
            </a:r>
          </a:p>
        </p:txBody>
      </p:sp>
      <p:pic>
        <p:nvPicPr>
          <p:cNvPr id="3" name="Picture 2">
            <a:extLst>
              <a:ext uri="{FF2B5EF4-FFF2-40B4-BE49-F238E27FC236}">
                <a16:creationId xmlns:a16="http://schemas.microsoft.com/office/drawing/2014/main" id="{9A18F3A1-3A3C-B1B2-DB97-F9E16E75D34F}"/>
              </a:ext>
            </a:extLst>
          </p:cNvPr>
          <p:cNvPicPr>
            <a:picLocks noChangeAspect="1"/>
          </p:cNvPicPr>
          <p:nvPr/>
        </p:nvPicPr>
        <p:blipFill>
          <a:blip r:embed="rId2"/>
          <a:srcRect l="11964" t="5381" r="7453" b="5756"/>
          <a:stretch>
            <a:fillRect/>
          </a:stretch>
        </p:blipFill>
        <p:spPr>
          <a:xfrm>
            <a:off x="802839" y="2936303"/>
            <a:ext cx="2124793" cy="3521410"/>
          </a:xfrm>
          <a:prstGeom prst="rect">
            <a:avLst/>
          </a:prstGeom>
        </p:spPr>
      </p:pic>
    </p:spTree>
    <p:extLst>
      <p:ext uri="{BB962C8B-B14F-4D97-AF65-F5344CB8AC3E}">
        <p14:creationId xmlns:p14="http://schemas.microsoft.com/office/powerpoint/2010/main" val="3553073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1631297"/>
            <a:ext cx="8628076" cy="41463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En México, el sistema de pensiones se compone de pensiones contributivas y no contributivas</a:t>
            </a:r>
            <a:r>
              <a:rPr lang="es-MX" sz="1800" baseline="30000">
                <a:latin typeface="Verdana" panose="020B0604030504040204" pitchFamily="34" charset="0"/>
                <a:ea typeface="Verdana" panose="020B0604030504040204" pitchFamily="34" charset="0"/>
              </a:rPr>
              <a:t>*</a:t>
            </a:r>
            <a:r>
              <a:rPr lang="es-MX" sz="1800" kern="0">
                <a:solidFill>
                  <a:srgbClr val="000000"/>
                </a:solidFill>
                <a:latin typeface="Verdana"/>
              </a:rPr>
              <a:t>. </a:t>
            </a:r>
          </a:p>
          <a:p>
            <a:pPr defTabSz="914400" eaLnBrk="1" hangingPunct="1">
              <a:lnSpc>
                <a:spcPct val="150000"/>
              </a:lnSpc>
              <a:spcBef>
                <a:spcPts val="600"/>
              </a:spcBef>
              <a:spcAft>
                <a:spcPts val="600"/>
              </a:spcAft>
              <a:buClr>
                <a:srgbClr val="1E3960"/>
              </a:buClr>
              <a:buFont typeface="Courier New" panose="02070309020205020404" pitchFamily="49" charset="0"/>
              <a:buChar char="o"/>
              <a:defRPr/>
            </a:pPr>
            <a:r>
              <a:rPr lang="es-MX" sz="1800" b="1" kern="0">
                <a:solidFill>
                  <a:srgbClr val="000000"/>
                </a:solidFill>
                <a:latin typeface="Verdana"/>
              </a:rPr>
              <a:t>Pensión no contributiva.</a:t>
            </a:r>
            <a:r>
              <a:rPr lang="es-MX" sz="1800" kern="0">
                <a:solidFill>
                  <a:srgbClr val="000000"/>
                </a:solidFill>
                <a:latin typeface="Verdana"/>
              </a:rPr>
              <a:t> Se otorga a las personas que no contribuyeron durante su vida laboral para tener una pensión.</a:t>
            </a:r>
          </a:p>
          <a:p>
            <a:pPr lvl="0" defTabSz="914400" eaLnBrk="1" hangingPunct="1">
              <a:lnSpc>
                <a:spcPct val="150000"/>
              </a:lnSpc>
              <a:spcBef>
                <a:spcPts val="600"/>
              </a:spcBef>
              <a:spcAft>
                <a:spcPts val="600"/>
              </a:spcAft>
              <a:buClr>
                <a:srgbClr val="1E3960"/>
              </a:buClr>
              <a:buFont typeface="Courier New" panose="02070309020205020404" pitchFamily="49" charset="0"/>
              <a:buChar char="o"/>
              <a:defRPr/>
            </a:pPr>
            <a:r>
              <a:rPr lang="es-MX" sz="1800" b="1" kern="0">
                <a:solidFill>
                  <a:srgbClr val="000000"/>
                </a:solidFill>
                <a:latin typeface="Verdana"/>
              </a:rPr>
              <a:t>Pensión contributiva.</a:t>
            </a:r>
            <a:r>
              <a:rPr lang="es-MX" sz="1800" kern="0">
                <a:solidFill>
                  <a:srgbClr val="000000"/>
                </a:solidFill>
                <a:latin typeface="Verdana"/>
              </a:rPr>
              <a:t> Se otorga a trabajadores que realizaron contribuciones durante su vida laboral para acceder a una pensión al cumplirse las contingencias cubiertas. Puede ser un plan privado de pensiones o bien un plan social de pensiones.</a:t>
            </a:r>
          </a:p>
        </p:txBody>
      </p: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 name="Rectangle 2"/>
          <p:cNvSpPr/>
          <p:nvPr/>
        </p:nvSpPr>
        <p:spPr>
          <a:xfrm>
            <a:off x="158727" y="5819691"/>
            <a:ext cx="8771023" cy="830997"/>
          </a:xfrm>
          <a:prstGeom prst="rect">
            <a:avLst/>
          </a:prstGeom>
        </p:spPr>
        <p:txBody>
          <a:bodyPr wrap="square">
            <a:spAutoFit/>
          </a:bodyPr>
          <a:lstStyle/>
          <a:p>
            <a:pPr algn="just"/>
            <a:r>
              <a:rPr lang="es-MX" sz="1200" baseline="30000">
                <a:latin typeface="Verdana" panose="020B0604030504040204" pitchFamily="34" charset="0"/>
                <a:ea typeface="Verdana" panose="020B0604030504040204" pitchFamily="34" charset="0"/>
              </a:rPr>
              <a:t>*</a:t>
            </a:r>
            <a:r>
              <a:rPr lang="es-MX" sz="1200">
                <a:latin typeface="Verdana" panose="020B0604030504040204" pitchFamily="34" charset="0"/>
                <a:ea typeface="Verdana" panose="020B0604030504040204" pitchFamily="34" charset="0"/>
              </a:rPr>
              <a:t> Fuente: Pensión universal para adultos mayores: una revisión necesaria. Véase https://ciep.mx/pension-universal-para-adultos-mayores-una-revision-necesaria/#:~:text=En%20marzo%20de%202021%20se,%243%2C000%20pesos%20mensuales%20en%202024.</a:t>
            </a:r>
          </a:p>
        </p:txBody>
      </p:sp>
    </p:spTree>
    <p:extLst>
      <p:ext uri="{BB962C8B-B14F-4D97-AF65-F5344CB8AC3E}">
        <p14:creationId xmlns:p14="http://schemas.microsoft.com/office/powerpoint/2010/main" val="3875112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1631296"/>
            <a:ext cx="8628076" cy="45478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50000"/>
              </a:lnSpc>
              <a:spcBef>
                <a:spcPts val="600"/>
              </a:spcBef>
              <a:spcAft>
                <a:spcPts val="600"/>
              </a:spcAft>
              <a:buClr>
                <a:srgbClr val="1E3960"/>
              </a:buClr>
              <a:buNone/>
              <a:defRPr/>
            </a:pPr>
            <a:r>
              <a:rPr lang="es-MX" sz="1800" b="1" kern="0">
                <a:solidFill>
                  <a:srgbClr val="000000"/>
                </a:solidFill>
                <a:latin typeface="Verdana"/>
              </a:rPr>
              <a:t>Pensión no contributiva</a:t>
            </a:r>
            <a:endParaRPr lang="es-MX" sz="1800" kern="0">
              <a:solidFill>
                <a:srgbClr val="000000"/>
              </a:solidFill>
              <a:latin typeface="Verdana"/>
            </a:endParaRPr>
          </a:p>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En México, el programa de pensiones tiene inicios en el año 2001 por el entonces Jefe de Gobierno del Distrito Federal, Andrés Manuel López Obrador. </a:t>
            </a:r>
          </a:p>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A partir de esto, en el 2003 surge el programa “Pensión para Adultos Mayores” gracias al “Programa de Atención a Adultos Mayores en Zonas Rurales” como parte de los programas para el cuidado de la sociedad rural.  </a:t>
            </a:r>
          </a:p>
        </p:txBody>
      </p: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262898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1631296"/>
            <a:ext cx="8628076" cy="49773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En el 2007, el Gobierno Federal retoma este proyecto bajo el nombre de “Programa 70 y más”, el cual otorgaba un apoyo monetario bimestral a personas adultas de 70 años en adelante, que no contarán con una pensión contributiva, ni estuvieran afilados a alguna institución de seguridad social. </a:t>
            </a:r>
          </a:p>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Durante el periodo 2008-2012 la cobertura de localidades pasó a ser de 20 mil a más de 30 mil habitantes. Asimismo, en el año 2010 se estableció un pago de marcha por $1,000.00 que se otorgaba únicamente cuando la persona beneficiaria falleciera. </a:t>
            </a:r>
          </a:p>
        </p:txBody>
      </p: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9051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1631296"/>
            <a:ext cx="8628076" cy="49773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Para el año 2013, el proyecto cambia de nombre a “Programa Pensión para Adultos Mayores” con la restricción de que la pensión la recibirían personas adultas de 65 años y más que tuvieran un mínimo de 25 años de residencia en el país y que no recibieran una pensión por jubilación o de tipo contributivo mayor a $1,092.00 MXN. </a:t>
            </a:r>
          </a:p>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Este programa se mantuvo sin cambios hasta el año 2018; sin embargo, durante este periodo hubo incrementos en el valor del apoyo monetario. </a:t>
            </a:r>
          </a:p>
        </p:txBody>
      </p: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877696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1631296"/>
            <a:ext cx="8628076" cy="49773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En el año 2019 se crea el programa “Pensión para el Bienestar de las Personas Adultas Mayores”, el cuál consistía en una pensión universal no contributiva otorgada a personas mayores de 68 años y 65 que habitan en comunidades indígenas, incluyendo pensionados y jubilados. El monto del apoyo económico fue de $1,390.00. Este programa benefició a alrededor de 8.5 millones de personas. </a:t>
            </a:r>
          </a:p>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En mayo del año 2020, se publicó en el Diario Oficial de la Federación el Decreto en el que se añade el artículo 4 de la Constitución, el cual establece el derecho a la pensión no contributiva para los adultos mayores. Debido a esto, </a:t>
            </a:r>
            <a:r>
              <a:rPr lang="es-MX" sz="1800" b="1" kern="0">
                <a:solidFill>
                  <a:srgbClr val="000000"/>
                </a:solidFill>
                <a:latin typeface="Verdana"/>
              </a:rPr>
              <a:t>ahora es obligación del Estado garantizar el ejercicio de este derecho. </a:t>
            </a:r>
          </a:p>
        </p:txBody>
      </p: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745927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1631296"/>
            <a:ext cx="8628076" cy="49773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En el año 2021 se disminuyó la edad de ingreso al programa a 65 años en adelante, sin ningún tipo de distinción, por lo que más de 10 millones de personas fueron las beneficiadas por este derecho. Para el año 2022 la pensión (bimestral) se incrementó a $3,850; para el año 2023 la pensión fue de $4,800 y para el año 2026 es de $6,400.</a:t>
            </a:r>
          </a:p>
        </p:txBody>
      </p: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3" name="Chart 2">
            <a:extLst>
              <a:ext uri="{FF2B5EF4-FFF2-40B4-BE49-F238E27FC236}">
                <a16:creationId xmlns:a16="http://schemas.microsoft.com/office/drawing/2014/main" id="{2A838009-F1DF-27C3-256A-921AEDD45BA0}"/>
              </a:ext>
            </a:extLst>
          </p:cNvPr>
          <p:cNvGraphicFramePr>
            <a:graphicFrameLocks/>
          </p:cNvGraphicFramePr>
          <p:nvPr>
            <p:extLst>
              <p:ext uri="{D42A27DB-BD31-4B8C-83A1-F6EECF244321}">
                <p14:modId xmlns:p14="http://schemas.microsoft.com/office/powerpoint/2010/main" val="3806569226"/>
              </p:ext>
            </p:extLst>
          </p:nvPr>
        </p:nvGraphicFramePr>
        <p:xfrm>
          <a:off x="1855141" y="3754463"/>
          <a:ext cx="5447571" cy="294448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06694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 name="Oval Callout 31">
            <a:extLst>
              <a:ext uri="{FF2B5EF4-FFF2-40B4-BE49-F238E27FC236}">
                <a16:creationId xmlns:a16="http://schemas.microsoft.com/office/drawing/2014/main" id="{FC706252-7C9D-5F6D-9981-F4EAB725242D}"/>
              </a:ext>
            </a:extLst>
          </p:cNvPr>
          <p:cNvSpPr/>
          <p:nvPr/>
        </p:nvSpPr>
        <p:spPr bwMode="auto">
          <a:xfrm>
            <a:off x="3998068" y="1359207"/>
            <a:ext cx="4868839" cy="2791600"/>
          </a:xfrm>
          <a:prstGeom prst="wedgeEllipseCallout">
            <a:avLst>
              <a:gd name="adj1" fmla="val -67747"/>
              <a:gd name="adj2" fmla="val 24408"/>
            </a:avLst>
          </a:prstGeom>
          <a:noFill/>
          <a:ln w="22225" cap="flat" cmpd="sng" algn="ctr">
            <a:solidFill>
              <a:srgbClr val="008080"/>
            </a:solid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spAutoFit/>
          </a:bodyPr>
          <a:lstStyle/>
          <a:p>
            <a:pPr lvl="0" defTabSz="914400">
              <a:lnSpc>
                <a:spcPct val="150000"/>
              </a:lnSpc>
              <a:spcBef>
                <a:spcPts val="600"/>
              </a:spcBef>
              <a:spcAft>
                <a:spcPts val="600"/>
              </a:spcAft>
              <a:buClr>
                <a:srgbClr val="1E3960"/>
              </a:buClr>
              <a:defRPr/>
            </a:pPr>
            <a:r>
              <a:rPr lang="es-MX" sz="1400" kern="0">
                <a:solidFill>
                  <a:srgbClr val="000000"/>
                </a:solidFill>
                <a:latin typeface="Verdana"/>
              </a:rPr>
              <a:t>Al mediados del año 2025, la Pensión para el Bienestar de las Personas Adultas Mayores se entrega a 13,093,491 de derechohabientes, cuyo costó representó el 1.9% del PIB real.</a:t>
            </a:r>
          </a:p>
        </p:txBody>
      </p:sp>
      <p:pic>
        <p:nvPicPr>
          <p:cNvPr id="3" name="Picture 2">
            <a:extLst>
              <a:ext uri="{FF2B5EF4-FFF2-40B4-BE49-F238E27FC236}">
                <a16:creationId xmlns:a16="http://schemas.microsoft.com/office/drawing/2014/main" id="{48B74034-6D7A-D0D6-4541-8036B0554616}"/>
              </a:ext>
            </a:extLst>
          </p:cNvPr>
          <p:cNvPicPr>
            <a:picLocks noChangeAspect="1"/>
          </p:cNvPicPr>
          <p:nvPr/>
        </p:nvPicPr>
        <p:blipFill>
          <a:blip r:embed="rId2"/>
          <a:srcRect l="11964" t="5381" r="7453" b="5756"/>
          <a:stretch>
            <a:fillRect/>
          </a:stretch>
        </p:blipFill>
        <p:spPr>
          <a:xfrm>
            <a:off x="802839" y="2936303"/>
            <a:ext cx="2124793" cy="3521410"/>
          </a:xfrm>
          <a:prstGeom prst="rect">
            <a:avLst/>
          </a:prstGeom>
        </p:spPr>
      </p:pic>
    </p:spTree>
    <p:extLst>
      <p:ext uri="{BB962C8B-B14F-4D97-AF65-F5344CB8AC3E}">
        <p14:creationId xmlns:p14="http://schemas.microsoft.com/office/powerpoint/2010/main" val="3078261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1631296"/>
            <a:ext cx="8628076" cy="22552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Los estudiantes de actuaría de la UDLAP, en su Programa de Prácticas a la Profesión del verano del año 2022, obtuvieron las estimaciones del costo fiscal de la pensión no contributiva para la República Mexicana a lo largo de 50 años. </a:t>
            </a:r>
          </a:p>
        </p:txBody>
      </p: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11" name="Imagen 10">
            <a:extLst>
              <a:ext uri="{FF2B5EF4-FFF2-40B4-BE49-F238E27FC236}">
                <a16:creationId xmlns:a16="http://schemas.microsoft.com/office/drawing/2014/main" id="{3581006D-110C-36B8-6C79-33648E0AD859}"/>
              </a:ext>
            </a:extLst>
          </p:cNvPr>
          <p:cNvPicPr>
            <a:picLocks noChangeAspect="1"/>
          </p:cNvPicPr>
          <p:nvPr/>
        </p:nvPicPr>
        <p:blipFill>
          <a:blip r:embed="rId2"/>
          <a:stretch>
            <a:fillRect/>
          </a:stretch>
        </p:blipFill>
        <p:spPr>
          <a:xfrm>
            <a:off x="273847" y="4014653"/>
            <a:ext cx="4008071" cy="2255208"/>
          </a:xfrm>
          <a:prstGeom prst="rect">
            <a:avLst/>
          </a:prstGeom>
        </p:spPr>
      </p:pic>
      <p:pic>
        <p:nvPicPr>
          <p:cNvPr id="12" name="Imagen 11">
            <a:extLst>
              <a:ext uri="{FF2B5EF4-FFF2-40B4-BE49-F238E27FC236}">
                <a16:creationId xmlns:a16="http://schemas.microsoft.com/office/drawing/2014/main" id="{016C4DE4-92DE-B8C8-3598-A76E88235A52}"/>
              </a:ext>
            </a:extLst>
          </p:cNvPr>
          <p:cNvPicPr>
            <a:picLocks noChangeAspect="1"/>
          </p:cNvPicPr>
          <p:nvPr/>
        </p:nvPicPr>
        <p:blipFill>
          <a:blip r:embed="rId3"/>
          <a:stretch>
            <a:fillRect/>
          </a:stretch>
        </p:blipFill>
        <p:spPr>
          <a:xfrm>
            <a:off x="4964591" y="4014653"/>
            <a:ext cx="3783906" cy="2255208"/>
          </a:xfrm>
          <a:prstGeom prst="rect">
            <a:avLst/>
          </a:prstGeom>
        </p:spPr>
      </p:pic>
    </p:spTree>
    <p:extLst>
      <p:ext uri="{BB962C8B-B14F-4D97-AF65-F5344CB8AC3E}">
        <p14:creationId xmlns:p14="http://schemas.microsoft.com/office/powerpoint/2010/main" val="81548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1631297"/>
            <a:ext cx="8614013" cy="5963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20000"/>
              </a:lnSpc>
              <a:spcBef>
                <a:spcPts val="600"/>
              </a:spcBef>
              <a:spcAft>
                <a:spcPts val="600"/>
              </a:spcAft>
              <a:buClr>
                <a:srgbClr val="1E3960"/>
              </a:buClr>
              <a:buNone/>
              <a:defRPr/>
            </a:pPr>
            <a:r>
              <a:rPr lang="es-MX" sz="1800" kern="0">
                <a:solidFill>
                  <a:srgbClr val="000000"/>
                </a:solidFill>
                <a:latin typeface="Verdana"/>
              </a:rPr>
              <a:t>¿De dónde se fondea un gobierno?</a:t>
            </a:r>
          </a:p>
        </p:txBody>
      </p: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a:extLst>
              <a:ext uri="{FF2B5EF4-FFF2-40B4-BE49-F238E27FC236}">
                <a16:creationId xmlns:a16="http://schemas.microsoft.com/office/drawing/2014/main" id="{4B15C780-7980-FA14-CAEA-2B10F3A5A596}"/>
              </a:ext>
            </a:extLst>
          </p:cNvPr>
          <p:cNvPicPr>
            <a:picLocks noChangeAspect="1"/>
          </p:cNvPicPr>
          <p:nvPr/>
        </p:nvPicPr>
        <p:blipFill>
          <a:blip r:embed="rId2"/>
          <a:stretch>
            <a:fillRect/>
          </a:stretch>
        </p:blipFill>
        <p:spPr>
          <a:xfrm>
            <a:off x="6558940" y="3230077"/>
            <a:ext cx="1923028" cy="3124921"/>
          </a:xfrm>
          <a:prstGeom prst="rect">
            <a:avLst/>
          </a:prstGeom>
        </p:spPr>
      </p:pic>
      <p:sp>
        <p:nvSpPr>
          <p:cNvPr id="14" name="Oval Callout 31">
            <a:extLst>
              <a:ext uri="{FF2B5EF4-FFF2-40B4-BE49-F238E27FC236}">
                <a16:creationId xmlns:a16="http://schemas.microsoft.com/office/drawing/2014/main" id="{5593BE32-520A-E887-EC74-057F288F8398}"/>
              </a:ext>
            </a:extLst>
          </p:cNvPr>
          <p:cNvSpPr/>
          <p:nvPr/>
        </p:nvSpPr>
        <p:spPr bwMode="auto">
          <a:xfrm>
            <a:off x="826851" y="1997339"/>
            <a:ext cx="4868839" cy="1758309"/>
          </a:xfrm>
          <a:prstGeom prst="wedgeEllipseCallout">
            <a:avLst>
              <a:gd name="adj1" fmla="val 67913"/>
              <a:gd name="adj2" fmla="val 37664"/>
            </a:avLst>
          </a:prstGeom>
          <a:noFill/>
          <a:ln w="22225" cap="flat" cmpd="sng" algn="ctr">
            <a:solidFill>
              <a:srgbClr val="008080"/>
            </a:solid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spAutoFit/>
          </a:bodyPr>
          <a:lstStyle/>
          <a:p>
            <a:pPr lvl="0" defTabSz="914400">
              <a:lnSpc>
                <a:spcPct val="120000"/>
              </a:lnSpc>
              <a:spcBef>
                <a:spcPts val="600"/>
              </a:spcBef>
              <a:spcAft>
                <a:spcPts val="600"/>
              </a:spcAft>
              <a:buClr>
                <a:srgbClr val="1E3960"/>
              </a:buClr>
              <a:defRPr/>
            </a:pPr>
            <a:r>
              <a:rPr lang="es-MX" sz="1400" kern="0">
                <a:solidFill>
                  <a:srgbClr val="000000"/>
                </a:solidFill>
                <a:latin typeface="Verdana"/>
              </a:rPr>
              <a:t>Solo tenemos dos cosas seguras: ¡¡los impuestos y la muerte!!</a:t>
            </a:r>
          </a:p>
          <a:p>
            <a:pPr lvl="0" defTabSz="914400">
              <a:lnSpc>
                <a:spcPct val="120000"/>
              </a:lnSpc>
              <a:spcBef>
                <a:spcPts val="600"/>
              </a:spcBef>
              <a:spcAft>
                <a:spcPts val="600"/>
              </a:spcAft>
              <a:buClr>
                <a:srgbClr val="1E3960"/>
              </a:buClr>
              <a:defRPr/>
            </a:pPr>
            <a:r>
              <a:rPr lang="es-MX" sz="1400" kern="0">
                <a:solidFill>
                  <a:srgbClr val="000000"/>
                </a:solidFill>
                <a:latin typeface="Verdana"/>
              </a:rPr>
              <a:t>¿Cuánto pagarán de impuestos sobre la renta cuando trabajen?</a:t>
            </a:r>
          </a:p>
        </p:txBody>
      </p:sp>
    </p:spTree>
    <p:extLst>
      <p:ext uri="{BB962C8B-B14F-4D97-AF65-F5344CB8AC3E}">
        <p14:creationId xmlns:p14="http://schemas.microsoft.com/office/powerpoint/2010/main" val="924966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6652A-9E02-47F8-170B-727DAC52F4A7}"/>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84CDCFE4-1C01-3F00-F5BF-115EAABBCBA1}"/>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ABE2B83D-F991-A1F6-649D-793AC17F7E05}"/>
              </a:ext>
            </a:extLst>
          </p:cNvPr>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732EF73B-E92C-7102-1D90-28DAC65805D7}"/>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F728448C-6CB5-9DE1-4E2C-9763E2FFD386}"/>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 name="TextBox 7">
            <a:extLst>
              <a:ext uri="{FF2B5EF4-FFF2-40B4-BE49-F238E27FC236}">
                <a16:creationId xmlns:a16="http://schemas.microsoft.com/office/drawing/2014/main" id="{C50D6A19-E4BA-3838-E07A-75C6F601DD5F}"/>
              </a:ext>
            </a:extLst>
          </p:cNvPr>
          <p:cNvSpPr txBox="1"/>
          <p:nvPr/>
        </p:nvSpPr>
        <p:spPr>
          <a:xfrm>
            <a:off x="252894" y="1586054"/>
            <a:ext cx="3564857" cy="1386662"/>
          </a:xfrm>
          <a:prstGeom prst="rect">
            <a:avLst/>
          </a:prstGeom>
          <a:noFill/>
        </p:spPr>
        <p:txBody>
          <a:bodyPr wrap="square" rtlCol="0">
            <a:spAutoFit/>
          </a:bodyPr>
          <a:lstStyle/>
          <a:p>
            <a:pPr algn="just">
              <a:lnSpc>
                <a:spcPct val="120000"/>
              </a:lnSpc>
              <a:spcBef>
                <a:spcPts val="600"/>
              </a:spcBef>
              <a:spcAft>
                <a:spcPts val="600"/>
              </a:spcAft>
            </a:pPr>
            <a:r>
              <a:rPr lang="es-MX" b="1">
                <a:latin typeface="Verdana" panose="020B0604030504040204" pitchFamily="34" charset="0"/>
                <a:ea typeface="Verdana" panose="020B0604030504040204" pitchFamily="34" charset="0"/>
              </a:rPr>
              <a:t>Laboratorio</a:t>
            </a:r>
            <a:r>
              <a:rPr lang="es-MX">
                <a:latin typeface="Verdana" panose="020B0604030504040204" pitchFamily="34" charset="0"/>
                <a:ea typeface="Verdana" panose="020B0604030504040204" pitchFamily="34" charset="0"/>
              </a:rPr>
              <a:t>. Obtener el impuesto en dinero y en tasa que pagará con base en la tarifa aplicable del año 2026.</a:t>
            </a:r>
          </a:p>
        </p:txBody>
      </p:sp>
      <p:sp>
        <p:nvSpPr>
          <p:cNvPr id="3" name="TextBox 2">
            <a:extLst>
              <a:ext uri="{FF2B5EF4-FFF2-40B4-BE49-F238E27FC236}">
                <a16:creationId xmlns:a16="http://schemas.microsoft.com/office/drawing/2014/main" id="{14B73597-E6DF-4E3F-B00E-C8187F5DCDFC}"/>
              </a:ext>
            </a:extLst>
          </p:cNvPr>
          <p:cNvSpPr txBox="1"/>
          <p:nvPr/>
        </p:nvSpPr>
        <p:spPr>
          <a:xfrm>
            <a:off x="4060945" y="1426483"/>
            <a:ext cx="4572000" cy="307777"/>
          </a:xfrm>
          <a:prstGeom prst="rect">
            <a:avLst/>
          </a:prstGeom>
          <a:noFill/>
        </p:spPr>
        <p:txBody>
          <a:bodyPr wrap="square">
            <a:spAutoFit/>
          </a:bodyPr>
          <a:lstStyle/>
          <a:p>
            <a:pPr algn="ctr"/>
            <a:r>
              <a:rPr lang="es-MX" sz="1400" b="1" i="0">
                <a:solidFill>
                  <a:srgbClr val="14142A"/>
                </a:solidFill>
                <a:effectLst/>
                <a:latin typeface="Verdana" panose="020B0604030504040204" pitchFamily="34" charset="0"/>
                <a:ea typeface="Verdana" panose="020B0604030504040204" pitchFamily="34" charset="0"/>
              </a:rPr>
              <a:t>Tarifa Mensual ISR</a:t>
            </a:r>
          </a:p>
        </p:txBody>
      </p:sp>
      <p:graphicFrame>
        <p:nvGraphicFramePr>
          <p:cNvPr id="11" name="Table 10">
            <a:extLst>
              <a:ext uri="{FF2B5EF4-FFF2-40B4-BE49-F238E27FC236}">
                <a16:creationId xmlns:a16="http://schemas.microsoft.com/office/drawing/2014/main" id="{34DC69B6-CABB-0054-B6A2-5CE54EC8C7F4}"/>
              </a:ext>
            </a:extLst>
          </p:cNvPr>
          <p:cNvGraphicFramePr>
            <a:graphicFrameLocks noGrp="1"/>
          </p:cNvGraphicFramePr>
          <p:nvPr>
            <p:extLst>
              <p:ext uri="{D42A27DB-BD31-4B8C-83A1-F6EECF244321}">
                <p14:modId xmlns:p14="http://schemas.microsoft.com/office/powerpoint/2010/main" val="2354270902"/>
              </p:ext>
            </p:extLst>
          </p:nvPr>
        </p:nvGraphicFramePr>
        <p:xfrm>
          <a:off x="4430948" y="1901757"/>
          <a:ext cx="4318000" cy="2926079"/>
        </p:xfrm>
        <a:graphic>
          <a:graphicData uri="http://schemas.openxmlformats.org/drawingml/2006/table">
            <a:tbl>
              <a:tblPr/>
              <a:tblGrid>
                <a:gridCol w="1079500">
                  <a:extLst>
                    <a:ext uri="{9D8B030D-6E8A-4147-A177-3AD203B41FA5}">
                      <a16:colId xmlns:a16="http://schemas.microsoft.com/office/drawing/2014/main" val="3046133324"/>
                    </a:ext>
                  </a:extLst>
                </a:gridCol>
                <a:gridCol w="1079500">
                  <a:extLst>
                    <a:ext uri="{9D8B030D-6E8A-4147-A177-3AD203B41FA5}">
                      <a16:colId xmlns:a16="http://schemas.microsoft.com/office/drawing/2014/main" val="2216546152"/>
                    </a:ext>
                  </a:extLst>
                </a:gridCol>
                <a:gridCol w="1079500">
                  <a:extLst>
                    <a:ext uri="{9D8B030D-6E8A-4147-A177-3AD203B41FA5}">
                      <a16:colId xmlns:a16="http://schemas.microsoft.com/office/drawing/2014/main" val="1187494768"/>
                    </a:ext>
                  </a:extLst>
                </a:gridCol>
                <a:gridCol w="1079500">
                  <a:extLst>
                    <a:ext uri="{9D8B030D-6E8A-4147-A177-3AD203B41FA5}">
                      <a16:colId xmlns:a16="http://schemas.microsoft.com/office/drawing/2014/main" val="3343355198"/>
                    </a:ext>
                  </a:extLst>
                </a:gridCol>
              </a:tblGrid>
              <a:tr h="731520">
                <a:tc>
                  <a:txBody>
                    <a:bodyPr/>
                    <a:lstStyle/>
                    <a:p>
                      <a:pPr algn="ctr" fontAlgn="ctr">
                        <a:buNone/>
                      </a:pPr>
                      <a:r>
                        <a:rPr lang="es-MX" sz="1100" b="0" i="0" u="none" strike="noStrike">
                          <a:solidFill>
                            <a:srgbClr val="000000"/>
                          </a:solidFill>
                          <a:effectLst/>
                          <a:latin typeface="Calibri"/>
                        </a:rPr>
                        <a:t>Límite inferior</a:t>
                      </a:r>
                    </a:p>
                  </a:txBody>
                  <a:tcPr marL="7620" marR="7620" marT="762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ctr">
                        <a:buNone/>
                      </a:pPr>
                      <a:r>
                        <a:rPr lang="es-MX" sz="1100" b="0" i="0" u="none" strike="noStrike">
                          <a:solidFill>
                            <a:srgbClr val="000000"/>
                          </a:solidFill>
                          <a:effectLst/>
                          <a:latin typeface="Calibri" panose="020F0502020204030204" pitchFamily="34" charset="0"/>
                        </a:rPr>
                        <a:t>Límite superior</a:t>
                      </a: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ctr">
                        <a:buNone/>
                      </a:pPr>
                      <a:r>
                        <a:rPr lang="es-MX" sz="1100" b="0" i="0" u="none" strike="noStrike">
                          <a:solidFill>
                            <a:srgbClr val="000000"/>
                          </a:solidFill>
                          <a:effectLst/>
                          <a:latin typeface="Calibri" panose="020F0502020204030204" pitchFamily="34" charset="0"/>
                        </a:rPr>
                        <a:t>Cuota fija</a:t>
                      </a: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ctr">
                        <a:buNone/>
                      </a:pPr>
                      <a:r>
                        <a:rPr lang="es-MX" sz="1100" b="0" i="0" u="none" strike="noStrike">
                          <a:solidFill>
                            <a:srgbClr val="000000"/>
                          </a:solidFill>
                          <a:effectLst/>
                          <a:latin typeface="Calibri" panose="020F0502020204030204" pitchFamily="34" charset="0"/>
                        </a:rPr>
                        <a:t>Por ciento para aplicarse sobre el excedente del límite inferior</a:t>
                      </a:r>
                    </a:p>
                  </a:txBody>
                  <a:tcPr marL="7620" marR="7620" marT="762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07241997"/>
                  </a:ext>
                </a:extLst>
              </a:tr>
              <a:tr h="182880">
                <a:tc>
                  <a:txBody>
                    <a:bodyPr/>
                    <a:lstStyle/>
                    <a:p>
                      <a:pPr algn="ctr" fontAlgn="b">
                        <a:buNone/>
                      </a:pPr>
                      <a:r>
                        <a:rPr lang="es-MX" sz="1100" b="0" i="0" u="none" strike="noStrike">
                          <a:solidFill>
                            <a:srgbClr val="000000"/>
                          </a:solidFill>
                          <a:effectLst/>
                          <a:latin typeface="Calibri" panose="020F0502020204030204" pitchFamily="34" charset="0"/>
                        </a:rPr>
                        <a:t>$</a:t>
                      </a:r>
                    </a:p>
                  </a:txBody>
                  <a:tcPr marL="7620" marR="7620" marT="762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MX" sz="1100" b="0" i="0" u="none" strike="noStrike">
                          <a:solidFill>
                            <a:srgbClr val="000000"/>
                          </a:solidFill>
                          <a:effectLst/>
                          <a:latin typeface="Calibri" panose="020F0502020204030204" pitchFamily="34" charset="0"/>
                        </a:rPr>
                        <a:t>$</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MX" sz="1100" b="0" i="0" u="none" strike="noStrike">
                          <a:solidFill>
                            <a:srgbClr val="000000"/>
                          </a:solidFill>
                          <a:effectLst/>
                          <a:latin typeface="Calibri" panose="020F0502020204030204" pitchFamily="34" charset="0"/>
                        </a:rPr>
                        <a:t>$</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MX" sz="1100" b="0" i="0" u="none" strike="noStrike">
                          <a:solidFill>
                            <a:srgbClr val="000000"/>
                          </a:solidFill>
                          <a:effectLst/>
                          <a:latin typeface="Calibri" panose="020F0502020204030204" pitchFamily="34" charset="0"/>
                        </a:rPr>
                        <a:t>%</a:t>
                      </a:r>
                    </a:p>
                  </a:txBody>
                  <a:tcPr marL="7620" marR="7620" marT="7620" marB="0" anchor="b">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4979134"/>
                  </a:ext>
                </a:extLst>
              </a:tr>
              <a:tr h="182880">
                <a:tc>
                  <a:txBody>
                    <a:bodyPr/>
                    <a:lstStyle/>
                    <a:p>
                      <a:pPr algn="l" fontAlgn="b">
                        <a:buNone/>
                      </a:pPr>
                      <a:r>
                        <a:rPr lang="es-MX" sz="1100" b="0" i="0" u="none" strike="noStrike">
                          <a:solidFill>
                            <a:srgbClr val="000000"/>
                          </a:solidFill>
                          <a:effectLst/>
                          <a:latin typeface="Calibri"/>
                        </a:rPr>
                        <a:t>                        0.01 </a:t>
                      </a:r>
                    </a:p>
                  </a:txBody>
                  <a:tcPr marL="7620" marR="7620" marT="762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844.59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MX" sz="1100" b="0" i="0" u="none" strike="noStrike">
                          <a:solidFill>
                            <a:srgbClr val="000000"/>
                          </a:solidFill>
                          <a:effectLst/>
                          <a:latin typeface="Calibri" panose="020F0502020204030204" pitchFamily="34" charset="0"/>
                        </a:rPr>
                        <a:t>1.92%</a:t>
                      </a:r>
                    </a:p>
                  </a:txBody>
                  <a:tcPr marL="7620" marR="7620" marT="7620"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420784663"/>
                  </a:ext>
                </a:extLst>
              </a:tr>
              <a:tr h="182880">
                <a:tc>
                  <a:txBody>
                    <a:bodyPr/>
                    <a:lstStyle/>
                    <a:p>
                      <a:pPr algn="l" fontAlgn="b">
                        <a:buNone/>
                      </a:pPr>
                      <a:r>
                        <a:rPr lang="es-MX" sz="1100" b="0" i="0" u="none" strike="noStrike">
                          <a:solidFill>
                            <a:srgbClr val="000000"/>
                          </a:solidFill>
                          <a:effectLst/>
                          <a:latin typeface="Calibri"/>
                        </a:rPr>
                        <a:t>                    844.60 </a:t>
                      </a:r>
                    </a:p>
                  </a:txBody>
                  <a:tcPr marL="7620" marR="7620" marT="762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7,168.51 </a:t>
                      </a:r>
                    </a:p>
                  </a:txBody>
                  <a:tcPr marL="7620" marR="7620" marT="7620" marB="0" anchor="b">
                    <a:lnL>
                      <a:noFill/>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16.22 </a:t>
                      </a:r>
                    </a:p>
                  </a:txBody>
                  <a:tcPr marL="7620" marR="7620" marT="7620" marB="0" anchor="b">
                    <a:lnL>
                      <a:noFill/>
                    </a:lnL>
                    <a:lnR>
                      <a:noFill/>
                    </a:lnR>
                    <a:lnT>
                      <a:noFill/>
                    </a:lnT>
                    <a:lnB>
                      <a:noFill/>
                    </a:lnB>
                    <a:noFill/>
                  </a:tcPr>
                </a:tc>
                <a:tc>
                  <a:txBody>
                    <a:bodyPr/>
                    <a:lstStyle/>
                    <a:p>
                      <a:pPr algn="r" fontAlgn="b">
                        <a:buNone/>
                      </a:pPr>
                      <a:r>
                        <a:rPr lang="es-MX" sz="1100" b="0" i="0" u="none" strike="noStrike">
                          <a:solidFill>
                            <a:srgbClr val="000000"/>
                          </a:solidFill>
                          <a:effectLst/>
                          <a:latin typeface="Calibri" panose="020F0502020204030204" pitchFamily="34" charset="0"/>
                        </a:rPr>
                        <a:t>6.40%</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7773249"/>
                  </a:ext>
                </a:extLst>
              </a:tr>
              <a:tr h="182880">
                <a:tc>
                  <a:txBody>
                    <a:bodyPr/>
                    <a:lstStyle/>
                    <a:p>
                      <a:pPr algn="l" fontAlgn="b">
                        <a:buNone/>
                      </a:pPr>
                      <a:r>
                        <a:rPr lang="es-MX" sz="1100" b="0" i="0" u="none" strike="noStrike">
                          <a:solidFill>
                            <a:srgbClr val="000000"/>
                          </a:solidFill>
                          <a:effectLst/>
                          <a:latin typeface="Calibri"/>
                        </a:rPr>
                        <a:t>                7,168.52 </a:t>
                      </a:r>
                    </a:p>
                  </a:txBody>
                  <a:tcPr marL="7620" marR="7620" marT="762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12,598.02 </a:t>
                      </a:r>
                    </a:p>
                  </a:txBody>
                  <a:tcPr marL="7620" marR="7620" marT="7620" marB="0" anchor="b">
                    <a:lnL>
                      <a:noFill/>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420.95 </a:t>
                      </a:r>
                    </a:p>
                  </a:txBody>
                  <a:tcPr marL="7620" marR="7620" marT="7620" marB="0" anchor="b">
                    <a:lnL>
                      <a:noFill/>
                    </a:lnL>
                    <a:lnR>
                      <a:noFill/>
                    </a:lnR>
                    <a:lnT>
                      <a:noFill/>
                    </a:lnT>
                    <a:lnB>
                      <a:noFill/>
                    </a:lnB>
                    <a:noFill/>
                  </a:tcPr>
                </a:tc>
                <a:tc>
                  <a:txBody>
                    <a:bodyPr/>
                    <a:lstStyle/>
                    <a:p>
                      <a:pPr algn="r" fontAlgn="b">
                        <a:buNone/>
                      </a:pPr>
                      <a:r>
                        <a:rPr lang="es-MX" sz="1100" b="0" i="0" u="none" strike="noStrike">
                          <a:solidFill>
                            <a:srgbClr val="000000"/>
                          </a:solidFill>
                          <a:effectLst/>
                          <a:latin typeface="Calibri" panose="020F0502020204030204" pitchFamily="34" charset="0"/>
                        </a:rPr>
                        <a:t>10.88%</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432987804"/>
                  </a:ext>
                </a:extLst>
              </a:tr>
              <a:tr h="182880">
                <a:tc>
                  <a:txBody>
                    <a:bodyPr/>
                    <a:lstStyle/>
                    <a:p>
                      <a:pPr algn="l" fontAlgn="b">
                        <a:buNone/>
                      </a:pPr>
                      <a:r>
                        <a:rPr lang="es-MX" sz="1100" b="0" i="0" u="none" strike="noStrike">
                          <a:solidFill>
                            <a:srgbClr val="000000"/>
                          </a:solidFill>
                          <a:effectLst/>
                          <a:latin typeface="Calibri"/>
                        </a:rPr>
                        <a:t>              12,598.03 </a:t>
                      </a:r>
                    </a:p>
                  </a:txBody>
                  <a:tcPr marL="7620" marR="7620" marT="762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14,644.64 </a:t>
                      </a:r>
                    </a:p>
                  </a:txBody>
                  <a:tcPr marL="7620" marR="7620" marT="7620" marB="0" anchor="b">
                    <a:lnL>
                      <a:noFill/>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1,011.68 </a:t>
                      </a:r>
                    </a:p>
                  </a:txBody>
                  <a:tcPr marL="7620" marR="7620" marT="7620" marB="0" anchor="b">
                    <a:lnL>
                      <a:noFill/>
                    </a:lnL>
                    <a:lnR>
                      <a:noFill/>
                    </a:lnR>
                    <a:lnT>
                      <a:noFill/>
                    </a:lnT>
                    <a:lnB>
                      <a:noFill/>
                    </a:lnB>
                    <a:noFill/>
                  </a:tcPr>
                </a:tc>
                <a:tc>
                  <a:txBody>
                    <a:bodyPr/>
                    <a:lstStyle/>
                    <a:p>
                      <a:pPr algn="r" fontAlgn="b">
                        <a:buNone/>
                      </a:pPr>
                      <a:r>
                        <a:rPr lang="es-MX" sz="1100" b="0" i="0" u="none" strike="noStrike">
                          <a:solidFill>
                            <a:srgbClr val="000000"/>
                          </a:solidFill>
                          <a:effectLst/>
                          <a:latin typeface="Calibri" panose="020F0502020204030204" pitchFamily="34" charset="0"/>
                        </a:rPr>
                        <a:t>16.00%</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704319028"/>
                  </a:ext>
                </a:extLst>
              </a:tr>
              <a:tr h="182880">
                <a:tc>
                  <a:txBody>
                    <a:bodyPr/>
                    <a:lstStyle/>
                    <a:p>
                      <a:pPr algn="l" fontAlgn="b">
                        <a:buNone/>
                      </a:pPr>
                      <a:r>
                        <a:rPr lang="es-MX" sz="1100" b="0" i="0" u="none" strike="noStrike">
                          <a:solidFill>
                            <a:srgbClr val="000000"/>
                          </a:solidFill>
                          <a:effectLst/>
                          <a:latin typeface="Calibri"/>
                        </a:rPr>
                        <a:t>              14,644.65 </a:t>
                      </a:r>
                    </a:p>
                  </a:txBody>
                  <a:tcPr marL="7620" marR="7620" marT="762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17,533.64 </a:t>
                      </a:r>
                    </a:p>
                  </a:txBody>
                  <a:tcPr marL="7620" marR="7620" marT="7620" marB="0" anchor="b">
                    <a:lnL>
                      <a:noFill/>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1,339.14 </a:t>
                      </a:r>
                    </a:p>
                  </a:txBody>
                  <a:tcPr marL="7620" marR="7620" marT="7620" marB="0" anchor="b">
                    <a:lnL>
                      <a:noFill/>
                    </a:lnL>
                    <a:lnR>
                      <a:noFill/>
                    </a:lnR>
                    <a:lnT>
                      <a:noFill/>
                    </a:lnT>
                    <a:lnB>
                      <a:noFill/>
                    </a:lnB>
                    <a:noFill/>
                  </a:tcPr>
                </a:tc>
                <a:tc>
                  <a:txBody>
                    <a:bodyPr/>
                    <a:lstStyle/>
                    <a:p>
                      <a:pPr algn="r" fontAlgn="b">
                        <a:buNone/>
                      </a:pPr>
                      <a:r>
                        <a:rPr lang="es-MX" sz="1100" b="0" i="0" u="none" strike="noStrike">
                          <a:solidFill>
                            <a:srgbClr val="000000"/>
                          </a:solidFill>
                          <a:effectLst/>
                          <a:latin typeface="Calibri" panose="020F0502020204030204" pitchFamily="34" charset="0"/>
                        </a:rPr>
                        <a:t>17.92%</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36562873"/>
                  </a:ext>
                </a:extLst>
              </a:tr>
              <a:tr h="182880">
                <a:tc>
                  <a:txBody>
                    <a:bodyPr/>
                    <a:lstStyle/>
                    <a:p>
                      <a:pPr algn="l" fontAlgn="b">
                        <a:buNone/>
                      </a:pPr>
                      <a:r>
                        <a:rPr lang="es-MX" sz="1100" b="0" i="0" u="none" strike="noStrike">
                          <a:solidFill>
                            <a:srgbClr val="000000"/>
                          </a:solidFill>
                          <a:effectLst/>
                          <a:latin typeface="Calibri"/>
                        </a:rPr>
                        <a:t>              17,533.65 </a:t>
                      </a:r>
                    </a:p>
                  </a:txBody>
                  <a:tcPr marL="7620" marR="7620" marT="762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35,362.83 </a:t>
                      </a:r>
                    </a:p>
                  </a:txBody>
                  <a:tcPr marL="7620" marR="7620" marT="7620" marB="0" anchor="b">
                    <a:lnL>
                      <a:noFill/>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1,856.84 </a:t>
                      </a:r>
                    </a:p>
                  </a:txBody>
                  <a:tcPr marL="7620" marR="7620" marT="7620" marB="0" anchor="b">
                    <a:lnL>
                      <a:noFill/>
                    </a:lnL>
                    <a:lnR>
                      <a:noFill/>
                    </a:lnR>
                    <a:lnT>
                      <a:noFill/>
                    </a:lnT>
                    <a:lnB>
                      <a:noFill/>
                    </a:lnB>
                    <a:noFill/>
                  </a:tcPr>
                </a:tc>
                <a:tc>
                  <a:txBody>
                    <a:bodyPr/>
                    <a:lstStyle/>
                    <a:p>
                      <a:pPr algn="r" fontAlgn="b">
                        <a:buNone/>
                      </a:pPr>
                      <a:r>
                        <a:rPr lang="es-MX" sz="1100" b="0" i="0" u="none" strike="noStrike">
                          <a:solidFill>
                            <a:srgbClr val="000000"/>
                          </a:solidFill>
                          <a:effectLst/>
                          <a:latin typeface="Calibri" panose="020F0502020204030204" pitchFamily="34" charset="0"/>
                        </a:rPr>
                        <a:t>21.36%</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97925006"/>
                  </a:ext>
                </a:extLst>
              </a:tr>
              <a:tr h="182880">
                <a:tc>
                  <a:txBody>
                    <a:bodyPr/>
                    <a:lstStyle/>
                    <a:p>
                      <a:pPr algn="l" fontAlgn="b">
                        <a:buNone/>
                      </a:pPr>
                      <a:r>
                        <a:rPr lang="es-MX" sz="1100" b="0" i="0" u="none" strike="noStrike">
                          <a:solidFill>
                            <a:srgbClr val="000000"/>
                          </a:solidFill>
                          <a:effectLst/>
                          <a:latin typeface="Calibri"/>
                        </a:rPr>
                        <a:t>              35,362.84 </a:t>
                      </a:r>
                    </a:p>
                  </a:txBody>
                  <a:tcPr marL="7620" marR="7620" marT="762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55,736.68 </a:t>
                      </a:r>
                    </a:p>
                  </a:txBody>
                  <a:tcPr marL="7620" marR="7620" marT="7620" marB="0" anchor="b">
                    <a:lnL>
                      <a:noFill/>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5,665.16 </a:t>
                      </a:r>
                    </a:p>
                  </a:txBody>
                  <a:tcPr marL="7620" marR="7620" marT="7620" marB="0" anchor="b">
                    <a:lnL>
                      <a:noFill/>
                    </a:lnL>
                    <a:lnR>
                      <a:noFill/>
                    </a:lnR>
                    <a:lnT>
                      <a:noFill/>
                    </a:lnT>
                    <a:lnB>
                      <a:noFill/>
                    </a:lnB>
                    <a:noFill/>
                  </a:tcPr>
                </a:tc>
                <a:tc>
                  <a:txBody>
                    <a:bodyPr/>
                    <a:lstStyle/>
                    <a:p>
                      <a:pPr algn="r" fontAlgn="b">
                        <a:buNone/>
                      </a:pPr>
                      <a:r>
                        <a:rPr lang="es-MX" sz="1100" b="0" i="0" u="none" strike="noStrike">
                          <a:solidFill>
                            <a:srgbClr val="000000"/>
                          </a:solidFill>
                          <a:effectLst/>
                          <a:latin typeface="Calibri" panose="020F0502020204030204" pitchFamily="34" charset="0"/>
                        </a:rPr>
                        <a:t>23.52%</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93646516"/>
                  </a:ext>
                </a:extLst>
              </a:tr>
              <a:tr h="182880">
                <a:tc>
                  <a:txBody>
                    <a:bodyPr/>
                    <a:lstStyle/>
                    <a:p>
                      <a:pPr algn="l" fontAlgn="b">
                        <a:buNone/>
                      </a:pPr>
                      <a:r>
                        <a:rPr lang="es-MX" sz="1100" b="0" i="0" u="none" strike="noStrike">
                          <a:solidFill>
                            <a:srgbClr val="000000"/>
                          </a:solidFill>
                          <a:effectLst/>
                          <a:latin typeface="Calibri"/>
                        </a:rPr>
                        <a:t>              55,736.69 </a:t>
                      </a:r>
                    </a:p>
                  </a:txBody>
                  <a:tcPr marL="7620" marR="7620" marT="762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106,410.50 </a:t>
                      </a:r>
                    </a:p>
                  </a:txBody>
                  <a:tcPr marL="7620" marR="7620" marT="7620" marB="0" anchor="b">
                    <a:lnL>
                      <a:noFill/>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10,457.09 </a:t>
                      </a:r>
                    </a:p>
                  </a:txBody>
                  <a:tcPr marL="7620" marR="7620" marT="7620" marB="0" anchor="b">
                    <a:lnL>
                      <a:noFill/>
                    </a:lnL>
                    <a:lnR>
                      <a:noFill/>
                    </a:lnR>
                    <a:lnT>
                      <a:noFill/>
                    </a:lnT>
                    <a:lnB>
                      <a:noFill/>
                    </a:lnB>
                    <a:noFill/>
                  </a:tcPr>
                </a:tc>
                <a:tc>
                  <a:txBody>
                    <a:bodyPr/>
                    <a:lstStyle/>
                    <a:p>
                      <a:pPr algn="r" fontAlgn="b">
                        <a:buNone/>
                      </a:pPr>
                      <a:r>
                        <a:rPr lang="es-MX" sz="1100" b="0" i="0" u="none" strike="noStrike">
                          <a:solidFill>
                            <a:srgbClr val="000000"/>
                          </a:solidFill>
                          <a:effectLst/>
                          <a:latin typeface="Calibri" panose="020F0502020204030204" pitchFamily="34" charset="0"/>
                        </a:rPr>
                        <a:t>30.00%</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85490675"/>
                  </a:ext>
                </a:extLst>
              </a:tr>
              <a:tr h="182880">
                <a:tc>
                  <a:txBody>
                    <a:bodyPr/>
                    <a:lstStyle/>
                    <a:p>
                      <a:pPr algn="l" fontAlgn="b">
                        <a:buNone/>
                      </a:pPr>
                      <a:r>
                        <a:rPr lang="es-MX" sz="1100" b="0" i="0" u="none" strike="noStrike">
                          <a:solidFill>
                            <a:srgbClr val="000000"/>
                          </a:solidFill>
                          <a:effectLst/>
                          <a:latin typeface="Calibri"/>
                        </a:rPr>
                        <a:t>            106,410.51 </a:t>
                      </a:r>
                    </a:p>
                  </a:txBody>
                  <a:tcPr marL="7620" marR="7620" marT="762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141,880.66 </a:t>
                      </a:r>
                    </a:p>
                  </a:txBody>
                  <a:tcPr marL="7620" marR="7620" marT="7620" marB="0" anchor="b">
                    <a:lnL>
                      <a:noFill/>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25,659.23 </a:t>
                      </a:r>
                    </a:p>
                  </a:txBody>
                  <a:tcPr marL="7620" marR="7620" marT="7620" marB="0" anchor="b">
                    <a:lnL>
                      <a:noFill/>
                    </a:lnL>
                    <a:lnR>
                      <a:noFill/>
                    </a:lnR>
                    <a:lnT>
                      <a:noFill/>
                    </a:lnT>
                    <a:lnB>
                      <a:noFill/>
                    </a:lnB>
                    <a:noFill/>
                  </a:tcPr>
                </a:tc>
                <a:tc>
                  <a:txBody>
                    <a:bodyPr/>
                    <a:lstStyle/>
                    <a:p>
                      <a:pPr algn="r" fontAlgn="b">
                        <a:buNone/>
                      </a:pPr>
                      <a:r>
                        <a:rPr lang="es-MX" sz="1100" b="0" i="0" u="none" strike="noStrike">
                          <a:solidFill>
                            <a:srgbClr val="000000"/>
                          </a:solidFill>
                          <a:effectLst/>
                          <a:latin typeface="Calibri" panose="020F0502020204030204" pitchFamily="34" charset="0"/>
                        </a:rPr>
                        <a:t>32.00%</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070196"/>
                  </a:ext>
                </a:extLst>
              </a:tr>
              <a:tr h="182880">
                <a:tc>
                  <a:txBody>
                    <a:bodyPr/>
                    <a:lstStyle/>
                    <a:p>
                      <a:pPr algn="l" fontAlgn="b">
                        <a:buNone/>
                      </a:pPr>
                      <a:r>
                        <a:rPr lang="es-MX" sz="1100" b="0" i="0" u="none" strike="noStrike">
                          <a:solidFill>
                            <a:srgbClr val="000000"/>
                          </a:solidFill>
                          <a:effectLst/>
                          <a:latin typeface="Calibri"/>
                        </a:rPr>
                        <a:t>            141,880.67 </a:t>
                      </a:r>
                    </a:p>
                  </a:txBody>
                  <a:tcPr marL="7620" marR="7620" marT="762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425,641.99 </a:t>
                      </a:r>
                    </a:p>
                  </a:txBody>
                  <a:tcPr marL="7620" marR="7620" marT="7620" marB="0" anchor="b">
                    <a:lnL>
                      <a:noFill/>
                    </a:lnL>
                    <a:lnR>
                      <a:noFill/>
                    </a:lnR>
                    <a:lnT>
                      <a:noFill/>
                    </a:lnT>
                    <a:lnB>
                      <a:noFill/>
                    </a:lnB>
                    <a:noFill/>
                  </a:tcPr>
                </a:tc>
                <a:tc>
                  <a:txBody>
                    <a:bodyPr/>
                    <a:lstStyle/>
                    <a:p>
                      <a:pPr algn="l" fontAlgn="b">
                        <a:buNone/>
                      </a:pPr>
                      <a:r>
                        <a:rPr lang="es-MX" sz="1100" b="0" i="0" u="none" strike="noStrike">
                          <a:solidFill>
                            <a:srgbClr val="000000"/>
                          </a:solidFill>
                          <a:effectLst/>
                          <a:latin typeface="Calibri" panose="020F0502020204030204" pitchFamily="34" charset="0"/>
                        </a:rPr>
                        <a:t>              37,009.69 </a:t>
                      </a:r>
                    </a:p>
                  </a:txBody>
                  <a:tcPr marL="7620" marR="7620" marT="7620" marB="0" anchor="b">
                    <a:lnL>
                      <a:noFill/>
                    </a:lnL>
                    <a:lnR>
                      <a:noFill/>
                    </a:lnR>
                    <a:lnT>
                      <a:noFill/>
                    </a:lnT>
                    <a:lnB>
                      <a:noFill/>
                    </a:lnB>
                    <a:noFill/>
                  </a:tcPr>
                </a:tc>
                <a:tc>
                  <a:txBody>
                    <a:bodyPr/>
                    <a:lstStyle/>
                    <a:p>
                      <a:pPr algn="r" fontAlgn="b">
                        <a:buNone/>
                      </a:pPr>
                      <a:r>
                        <a:rPr lang="es-MX" sz="1100" b="0" i="0" u="none" strike="noStrike">
                          <a:solidFill>
                            <a:srgbClr val="000000"/>
                          </a:solidFill>
                          <a:effectLst/>
                          <a:latin typeface="Calibri" panose="020F0502020204030204" pitchFamily="34" charset="0"/>
                        </a:rPr>
                        <a:t>34.00%</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246010715"/>
                  </a:ext>
                </a:extLst>
              </a:tr>
              <a:tr h="182879">
                <a:tc>
                  <a:txBody>
                    <a:bodyPr/>
                    <a:lstStyle/>
                    <a:p>
                      <a:pPr algn="l" fontAlgn="b">
                        <a:buNone/>
                      </a:pPr>
                      <a:r>
                        <a:rPr lang="es-MX" sz="1100" b="0" i="0" u="none" strike="noStrike">
                          <a:solidFill>
                            <a:srgbClr val="000000"/>
                          </a:solidFill>
                          <a:effectLst/>
                          <a:latin typeface="Calibri"/>
                        </a:rPr>
                        <a:t>            425,642.00 </a:t>
                      </a:r>
                    </a:p>
                  </a:txBody>
                  <a:tcPr marL="7620" marR="7620" marT="762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s-MX" sz="1100" b="0" i="0" u="none" strike="noStrike">
                          <a:solidFill>
                            <a:srgbClr val="000000"/>
                          </a:solidFill>
                          <a:effectLst/>
                          <a:latin typeface="Calibri" panose="020F0502020204030204" pitchFamily="34" charset="0"/>
                        </a:rPr>
                        <a:t> En adelante </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s-MX" sz="1100" b="0" i="0" u="none" strike="noStrike">
                          <a:solidFill>
                            <a:srgbClr val="000000"/>
                          </a:solidFill>
                          <a:effectLst/>
                          <a:latin typeface="Calibri" panose="020F0502020204030204" pitchFamily="34" charset="0"/>
                        </a:rPr>
                        <a:t>            133,488.54 </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r" fontAlgn="b">
                        <a:buNone/>
                      </a:pPr>
                      <a:r>
                        <a:rPr lang="es-MX" sz="1100" b="0" i="0" u="none" strike="noStrike">
                          <a:solidFill>
                            <a:srgbClr val="000000"/>
                          </a:solidFill>
                          <a:effectLst/>
                          <a:latin typeface="Calibri" panose="020F0502020204030204" pitchFamily="34" charset="0"/>
                        </a:rPr>
                        <a:t>35.00%</a:t>
                      </a:r>
                    </a:p>
                  </a:txBody>
                  <a:tcPr marL="7620" marR="7620" marT="762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8059492"/>
                  </a:ext>
                </a:extLst>
              </a:tr>
            </a:tbl>
          </a:graphicData>
        </a:graphic>
      </p:graphicFrame>
    </p:spTree>
    <p:extLst>
      <p:ext uri="{BB962C8B-B14F-4D97-AF65-F5344CB8AC3E}">
        <p14:creationId xmlns:p14="http://schemas.microsoft.com/office/powerpoint/2010/main" val="1410595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FE593A8-06F9-CA46-035F-EEB9284C30DB}"/>
              </a:ext>
            </a:extLst>
          </p:cNvPr>
          <p:cNvSpPr txBox="1"/>
          <p:nvPr/>
        </p:nvSpPr>
        <p:spPr>
          <a:xfrm>
            <a:off x="258457" y="6141313"/>
            <a:ext cx="8604000" cy="461665"/>
          </a:xfrm>
          <a:prstGeom prst="rect">
            <a:avLst/>
          </a:prstGeom>
          <a:noFill/>
        </p:spPr>
        <p:txBody>
          <a:bodyPr wrap="square">
            <a:spAutoFit/>
          </a:bodyPr>
          <a:lstStyle/>
          <a:p>
            <a:r>
              <a:rPr lang="es-MX" sz="1200" b="1">
                <a:latin typeface="Verdana" panose="020B0604030504040204" pitchFamily="34" charset="0"/>
                <a:ea typeface="Verdana" panose="020B0604030504040204" pitchFamily="34" charset="0"/>
              </a:rPr>
              <a:t>Fuente: Iniciativa de Ley de Ingresos de la Federación para el Ejercicio Fiscal de 2026. Consultado en https://www.ppef.hacienda.gob.mx/</a:t>
            </a:r>
          </a:p>
        </p:txBody>
      </p:sp>
      <p:pic>
        <p:nvPicPr>
          <p:cNvPr id="3" name="Picture 2">
            <a:extLst>
              <a:ext uri="{FF2B5EF4-FFF2-40B4-BE49-F238E27FC236}">
                <a16:creationId xmlns:a16="http://schemas.microsoft.com/office/drawing/2014/main" id="{6B086EFC-8B4C-CD6D-6135-8E0525B09663}"/>
              </a:ext>
            </a:extLst>
          </p:cNvPr>
          <p:cNvPicPr>
            <a:picLocks noChangeAspect="1"/>
          </p:cNvPicPr>
          <p:nvPr/>
        </p:nvPicPr>
        <p:blipFill>
          <a:blip r:embed="rId2"/>
          <a:stretch>
            <a:fillRect/>
          </a:stretch>
        </p:blipFill>
        <p:spPr>
          <a:xfrm>
            <a:off x="1047444" y="1392580"/>
            <a:ext cx="7049111" cy="4092295"/>
          </a:xfrm>
          <a:prstGeom prst="rect">
            <a:avLst/>
          </a:prstGeom>
        </p:spPr>
      </p:pic>
    </p:spTree>
    <p:extLst>
      <p:ext uri="{BB962C8B-B14F-4D97-AF65-F5344CB8AC3E}">
        <p14:creationId xmlns:p14="http://schemas.microsoft.com/office/powerpoint/2010/main" val="1418894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55A07-5540-D757-14DF-6C0345F47520}"/>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F9F47342-4E46-D3C4-3D98-7C37D8600055}"/>
              </a:ext>
            </a:extLst>
          </p:cNvPr>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FB7B59CB-8184-4C2C-3AF8-389AB6E511A2}"/>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24A07101-0CE2-2A3E-28E7-B4EFCAE8A2F2}"/>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9" name="Conector recto 8">
            <a:extLst>
              <a:ext uri="{FF2B5EF4-FFF2-40B4-BE49-F238E27FC236}">
                <a16:creationId xmlns:a16="http://schemas.microsoft.com/office/drawing/2014/main" id="{EB1EBCC4-BABF-4E5C-8EA0-83C171FBA82D}"/>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A344020-1B37-2063-47D7-3A49BB369C1A}"/>
              </a:ext>
            </a:extLst>
          </p:cNvPr>
          <p:cNvSpPr txBox="1"/>
          <p:nvPr/>
        </p:nvSpPr>
        <p:spPr>
          <a:xfrm>
            <a:off x="258457" y="6141313"/>
            <a:ext cx="8604000" cy="461665"/>
          </a:xfrm>
          <a:prstGeom prst="rect">
            <a:avLst/>
          </a:prstGeom>
          <a:noFill/>
        </p:spPr>
        <p:txBody>
          <a:bodyPr wrap="square">
            <a:spAutoFit/>
          </a:bodyPr>
          <a:lstStyle/>
          <a:p>
            <a:r>
              <a:rPr lang="es-MX" sz="1200" b="1">
                <a:latin typeface="Verdana" panose="020B0604030504040204" pitchFamily="34" charset="0"/>
                <a:ea typeface="Verdana" panose="020B0604030504040204" pitchFamily="34" charset="0"/>
              </a:rPr>
              <a:t>Fuente: Iniciativa de Ley de Ingresos de la Federación para el Ejercicio Fiscal de 2026. Consultado en https://www.ppef.hacienda.gob.mx/</a:t>
            </a:r>
          </a:p>
        </p:txBody>
      </p:sp>
      <p:pic>
        <p:nvPicPr>
          <p:cNvPr id="4" name="Picture 3">
            <a:extLst>
              <a:ext uri="{FF2B5EF4-FFF2-40B4-BE49-F238E27FC236}">
                <a16:creationId xmlns:a16="http://schemas.microsoft.com/office/drawing/2014/main" id="{2895A1D3-A21D-591F-AC70-DA235E22206E}"/>
              </a:ext>
            </a:extLst>
          </p:cNvPr>
          <p:cNvPicPr>
            <a:picLocks noChangeAspect="1"/>
          </p:cNvPicPr>
          <p:nvPr/>
        </p:nvPicPr>
        <p:blipFill>
          <a:blip r:embed="rId2"/>
          <a:stretch>
            <a:fillRect/>
          </a:stretch>
        </p:blipFill>
        <p:spPr>
          <a:xfrm>
            <a:off x="1215099" y="1306648"/>
            <a:ext cx="6713802" cy="4244708"/>
          </a:xfrm>
          <a:prstGeom prst="rect">
            <a:avLst/>
          </a:prstGeom>
        </p:spPr>
      </p:pic>
    </p:spTree>
    <p:extLst>
      <p:ext uri="{BB962C8B-B14F-4D97-AF65-F5344CB8AC3E}">
        <p14:creationId xmlns:p14="http://schemas.microsoft.com/office/powerpoint/2010/main" val="1570402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49FC0-ABA2-83B3-8E1C-00EE98CDB7E0}"/>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539DF888-142D-6204-B003-5152C4D2615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A195FFCB-61F0-8A1D-1108-82E8211A51C6}"/>
              </a:ext>
            </a:extLst>
          </p:cNvPr>
          <p:cNvSpPr txBox="1">
            <a:spLocks noChangeArrowheads="1"/>
          </p:cNvSpPr>
          <p:nvPr/>
        </p:nvSpPr>
        <p:spPr bwMode="auto">
          <a:xfrm>
            <a:off x="252894" y="1631297"/>
            <a:ext cx="8628076" cy="495458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Un país debe velar por implementar un esquema completo de su Plan de Pensiones, el cual se conforma por los siguientes 4 Pilares:</a:t>
            </a:r>
          </a:p>
        </p:txBody>
      </p:sp>
      <p:sp>
        <p:nvSpPr>
          <p:cNvPr id="5" name="Rectangle 2">
            <a:extLst>
              <a:ext uri="{FF2B5EF4-FFF2-40B4-BE49-F238E27FC236}">
                <a16:creationId xmlns:a16="http://schemas.microsoft.com/office/drawing/2014/main" id="{9A295C6C-43D2-5201-65AB-A5B9E8AAF0D7}"/>
              </a:ext>
            </a:extLst>
          </p:cNvPr>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F4714878-94E6-A9D0-E95D-8D861769E66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289A69AC-4F9D-0592-B9E5-667CEEDA4863}"/>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2" name="Picture 1">
            <a:extLst>
              <a:ext uri="{FF2B5EF4-FFF2-40B4-BE49-F238E27FC236}">
                <a16:creationId xmlns:a16="http://schemas.microsoft.com/office/drawing/2014/main" id="{1CFC7370-AFE7-58B2-F691-85D813848788}"/>
              </a:ext>
            </a:extLst>
          </p:cNvPr>
          <p:cNvPicPr>
            <a:picLocks noChangeAspect="1"/>
          </p:cNvPicPr>
          <p:nvPr/>
        </p:nvPicPr>
        <p:blipFill>
          <a:blip r:embed="rId2"/>
          <a:stretch>
            <a:fillRect/>
          </a:stretch>
        </p:blipFill>
        <p:spPr>
          <a:xfrm>
            <a:off x="899894" y="2754840"/>
            <a:ext cx="7352823" cy="3550428"/>
          </a:xfrm>
          <a:prstGeom prst="rect">
            <a:avLst/>
          </a:prstGeom>
        </p:spPr>
      </p:pic>
    </p:spTree>
    <p:extLst>
      <p:ext uri="{BB962C8B-B14F-4D97-AF65-F5344CB8AC3E}">
        <p14:creationId xmlns:p14="http://schemas.microsoft.com/office/powerpoint/2010/main" val="4171356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1631297"/>
            <a:ext cx="8628076" cy="495458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0" lvl="0" indent="0" defTabSz="914400" eaLnBrk="1" hangingPunct="1">
              <a:lnSpc>
                <a:spcPct val="150000"/>
              </a:lnSpc>
              <a:spcBef>
                <a:spcPts val="600"/>
              </a:spcBef>
              <a:spcAft>
                <a:spcPts val="600"/>
              </a:spcAft>
              <a:buClr>
                <a:srgbClr val="1E3960"/>
              </a:buClr>
              <a:buNone/>
              <a:defRPr/>
            </a:pPr>
            <a:r>
              <a:rPr lang="es-MX" sz="1800" b="1" kern="0">
                <a:solidFill>
                  <a:srgbClr val="000000"/>
                </a:solidFill>
                <a:latin typeface="Verdana"/>
              </a:rPr>
              <a:t>Planes contributivos</a:t>
            </a:r>
          </a:p>
          <a:p>
            <a:pPr marL="0" lv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En este curso abordaremos el estudio de los esquemas de planes contributivos de pensiones:</a:t>
            </a:r>
          </a:p>
          <a:p>
            <a:pPr lvl="0" defTabSz="914400" eaLnBrk="1" hangingPunct="1">
              <a:lnSpc>
                <a:spcPct val="150000"/>
              </a:lnSpc>
              <a:spcBef>
                <a:spcPts val="600"/>
              </a:spcBef>
              <a:spcAft>
                <a:spcPts val="600"/>
              </a:spcAft>
              <a:buClr>
                <a:srgbClr val="1E3960"/>
              </a:buClr>
              <a:buFont typeface="Courier New" panose="02070309020205020404" pitchFamily="49" charset="0"/>
              <a:buChar char="o"/>
              <a:defRPr/>
            </a:pPr>
            <a:r>
              <a:rPr lang="es-MX" sz="1800" kern="0">
                <a:solidFill>
                  <a:srgbClr val="000000"/>
                </a:solidFill>
                <a:latin typeface="Verdana"/>
              </a:rPr>
              <a:t>Pensiones derivadas de la seguridad social, y</a:t>
            </a:r>
          </a:p>
          <a:p>
            <a:pPr lvl="0" defTabSz="914400" eaLnBrk="1" hangingPunct="1">
              <a:lnSpc>
                <a:spcPct val="150000"/>
              </a:lnSpc>
              <a:spcBef>
                <a:spcPts val="600"/>
              </a:spcBef>
              <a:spcAft>
                <a:spcPts val="600"/>
              </a:spcAft>
              <a:buClr>
                <a:srgbClr val="1E3960"/>
              </a:buClr>
              <a:buFont typeface="Courier New" panose="02070309020205020404" pitchFamily="49" charset="0"/>
              <a:buChar char="o"/>
              <a:defRPr/>
            </a:pPr>
            <a:r>
              <a:rPr lang="es-MX" sz="1800" kern="0">
                <a:solidFill>
                  <a:srgbClr val="000000"/>
                </a:solidFill>
                <a:latin typeface="Verdana"/>
              </a:rPr>
              <a:t>Pensiones derivadas de un plan privado.</a:t>
            </a:r>
          </a:p>
          <a:p>
            <a:pPr mar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En el caso de las pensiones derivadas de la seguridad social, se analizarán a detalle las prestaciones en dinero a largo plazo que ofrece la Ley del Seguro Social a los trabajadores cotizantes a este Instituto.</a:t>
            </a:r>
          </a:p>
          <a:p>
            <a:pPr marL="0" indent="0" defTabSz="914400" eaLnBrk="1" hangingPunct="1">
              <a:lnSpc>
                <a:spcPct val="150000"/>
              </a:lnSpc>
              <a:spcBef>
                <a:spcPts val="600"/>
              </a:spcBef>
              <a:spcAft>
                <a:spcPts val="600"/>
              </a:spcAft>
              <a:buClr>
                <a:srgbClr val="1E3960"/>
              </a:buClr>
              <a:buNone/>
              <a:defRPr/>
            </a:pPr>
            <a:r>
              <a:rPr lang="es-MX" sz="1800" kern="0">
                <a:solidFill>
                  <a:srgbClr val="000000"/>
                </a:solidFill>
                <a:latin typeface="Verdana"/>
              </a:rPr>
              <a:t>En el caso de los planes privados de pensiones, se analizarán los métodos que existen para el cálculo de las reservas requeridas.</a:t>
            </a:r>
          </a:p>
        </p:txBody>
      </p:sp>
      <p:sp>
        <p:nvSpPr>
          <p:cNvPr id="5" name="Rectangle 2"/>
          <p:cNvSpPr txBox="1">
            <a:spLocks noChangeArrowheads="1"/>
          </p:cNvSpPr>
          <p:nvPr/>
        </p:nvSpPr>
        <p:spPr>
          <a:xfrm>
            <a:off x="263237" y="935322"/>
            <a:ext cx="8485260" cy="436563"/>
          </a:xfrm>
          <a:prstGeom prst="rect">
            <a:avLst/>
          </a:prstGeom>
          <a:noFill/>
        </p:spPr>
        <p:txBody>
          <a:bodyPr/>
          <a:lstStyle/>
          <a:p>
            <a:pPr lvl="0" algn="r" defTabSz="914400" eaLnBrk="0" fontAlgn="base" hangingPunct="0">
              <a:spcBef>
                <a:spcPct val="0"/>
              </a:spcBef>
              <a:spcAft>
                <a:spcPct val="0"/>
              </a:spcAft>
              <a:defRPr/>
            </a:pPr>
            <a:r>
              <a:rPr lang="es-MX" sz="1900" b="1" kern="0">
                <a:solidFill>
                  <a:srgbClr val="44546A"/>
                </a:solidFill>
                <a:latin typeface="Verdana" panose="020B0604030504040204" pitchFamily="34" charset="0"/>
                <a:ea typeface="Verdana" panose="020B0604030504040204" pitchFamily="34" charset="0"/>
                <a:cs typeface="Verdana" panose="020B0604030504040204" pitchFamily="34" charset="0"/>
              </a:rPr>
              <a:t>Introducción</a:t>
            </a:r>
            <a:endParaRPr lang="es-MX" sz="1900" b="1" kern="0" baseline="30000">
              <a:solidFill>
                <a:srgbClr val="44546A"/>
              </a:solidFill>
              <a:latin typeface="Verdana" panose="020B0604030504040204" pitchFamily="34" charset="0"/>
              <a:ea typeface="Verdana" panose="020B0604030504040204" pitchFamily="34" charset="0"/>
              <a:cs typeface="Verdana" panose="020B0604030504040204" pitchFamily="34" charset="0"/>
            </a:endParaRPr>
          </a:p>
        </p:txBody>
      </p: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rgbClr val="1E3960"/>
          </a:solidFill>
          <a:ln w="9525">
            <a:noFill/>
            <a:miter lim="800000"/>
            <a:headEnd/>
            <a:tailEnd/>
          </a:ln>
        </p:spPr>
        <p:txBody>
          <a:bodyPr anchor="ctr"/>
          <a:lstStyle/>
          <a:p>
            <a:pPr lvl="0" defTabSz="914400" fontAlgn="base">
              <a:spcBef>
                <a:spcPct val="0"/>
              </a:spcBef>
              <a:spcAft>
                <a:spcPct val="0"/>
              </a:spcAft>
              <a:defRPr/>
            </a:pPr>
            <a:r>
              <a:rPr lang="es-MX" sz="2000" b="1" i="1">
                <a:solidFill>
                  <a:schemeClr val="bg1"/>
                </a:solidFill>
                <a:latin typeface="Verdana" panose="020B0604030504040204" pitchFamily="34" charset="0"/>
                <a:ea typeface="Verdana" panose="020B0604030504040204" pitchFamily="34" charset="0"/>
                <a:cs typeface="Verdana" panose="020B0604030504040204" pitchFamily="34" charset="0"/>
              </a:rPr>
              <a:t>Esquemas de planes de pensiones</a:t>
            </a:r>
            <a:endParaRPr kumimoji="0" lang="es-MX" sz="2000" b="1" i="1"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76905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4">
            <a:extLst>
              <a:ext uri="{FF2B5EF4-FFF2-40B4-BE49-F238E27FC236}">
                <a16:creationId xmlns:a16="http://schemas.microsoft.com/office/drawing/2014/main" id="{9B7A4424-783D-4A95-8835-C61F370B49DF}"/>
              </a:ext>
            </a:extLst>
          </p:cNvPr>
          <p:cNvCxnSpPr/>
          <p:nvPr/>
        </p:nvCxnSpPr>
        <p:spPr>
          <a:xfrm>
            <a:off x="971550" y="3125645"/>
            <a:ext cx="7164000" cy="1588"/>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8">
            <a:extLst>
              <a:ext uri="{FF2B5EF4-FFF2-40B4-BE49-F238E27FC236}">
                <a16:creationId xmlns:a16="http://schemas.microsoft.com/office/drawing/2014/main" id="{F2A591AF-2F4A-413C-9AF6-F87F6CF57B05}"/>
              </a:ext>
            </a:extLst>
          </p:cNvPr>
          <p:cNvSpPr txBox="1"/>
          <p:nvPr/>
        </p:nvSpPr>
        <p:spPr>
          <a:xfrm>
            <a:off x="907769" y="2517713"/>
            <a:ext cx="7959139" cy="615535"/>
          </a:xfrm>
          <a:prstGeom prst="rect">
            <a:avLst/>
          </a:prstGeom>
          <a:noFill/>
        </p:spPr>
        <p:txBody>
          <a:bodyPr wrap="square" lIns="91420" tIns="45711" rIns="91420" bIns="45711">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s-MX" sz="3400" b="1" i="0" u="none" strike="noStrike" kern="1200" cap="none" spc="0" normalizeH="0" baseline="0" noProof="0">
                <a:ln>
                  <a:noFill/>
                </a:ln>
                <a:solidFill>
                  <a:srgbClr val="1E3960"/>
                </a:solidFill>
                <a:effectLst/>
                <a:uLnTx/>
                <a:uFillTx/>
                <a:latin typeface="Calibri" panose="020F0502020204030204"/>
                <a:ea typeface="+mn-ea"/>
                <a:cs typeface="+mn-cs"/>
              </a:rPr>
              <a:t>Seguridad social y pensiones</a:t>
            </a:r>
          </a:p>
        </p:txBody>
      </p:sp>
      <p:sp>
        <p:nvSpPr>
          <p:cNvPr id="6" name="TextBox 8">
            <a:extLst>
              <a:ext uri="{FF2B5EF4-FFF2-40B4-BE49-F238E27FC236}">
                <a16:creationId xmlns:a16="http://schemas.microsoft.com/office/drawing/2014/main" id="{7CA720E0-EB0C-4B0C-96CC-2776E7A4C881}"/>
              </a:ext>
            </a:extLst>
          </p:cNvPr>
          <p:cNvSpPr txBox="1"/>
          <p:nvPr/>
        </p:nvSpPr>
        <p:spPr>
          <a:xfrm>
            <a:off x="5486402" y="5749845"/>
            <a:ext cx="3161505" cy="461647"/>
          </a:xfrm>
          <a:prstGeom prst="rect">
            <a:avLst/>
          </a:prstGeom>
          <a:noFill/>
        </p:spPr>
        <p:txBody>
          <a:bodyPr wrap="square" lIns="91420" tIns="45711" rIns="91420" bIns="45711">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s-MX" sz="2400" b="1" i="1" u="none" strike="noStrike" kern="1200" cap="none" spc="0" normalizeH="0" baseline="0" noProof="0">
                <a:ln>
                  <a:noFill/>
                </a:ln>
                <a:solidFill>
                  <a:srgbClr val="1E3960"/>
                </a:solidFill>
                <a:effectLst/>
                <a:uLnTx/>
                <a:uFillTx/>
                <a:latin typeface="Calibri Light" panose="020F0302020204030204"/>
                <a:ea typeface="+mn-ea"/>
                <a:cs typeface="+mn-cs"/>
              </a:rPr>
              <a:t>Francisco García Castillo</a:t>
            </a:r>
          </a:p>
        </p:txBody>
      </p:sp>
    </p:spTree>
    <p:extLst>
      <p:ext uri="{BB962C8B-B14F-4D97-AF65-F5344CB8AC3E}">
        <p14:creationId xmlns:p14="http://schemas.microsoft.com/office/powerpoint/2010/main" val="750532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835865EB09FA4F8AF0823547988769" ma:contentTypeVersion="3" ma:contentTypeDescription="Create a new document." ma:contentTypeScope="" ma:versionID="ad307e11ec997e6c5d3b761087929771">
  <xsd:schema xmlns:xsd="http://www.w3.org/2001/XMLSchema" xmlns:xs="http://www.w3.org/2001/XMLSchema" xmlns:p="http://schemas.microsoft.com/office/2006/metadata/properties" xmlns:ns2="9d63bd8f-f4f2-45db-b534-f5f5cad13c33" targetNamespace="http://schemas.microsoft.com/office/2006/metadata/properties" ma:root="true" ma:fieldsID="107b9762897e7cab8574cfffdf229e87" ns2:_="">
    <xsd:import namespace="9d63bd8f-f4f2-45db-b534-f5f5cad13c3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63bd8f-f4f2-45db-b534-f5f5cad13c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A026D6F-66BA-482D-BE96-CA6FB65A7AA4}">
  <ds:schemaRefs>
    <ds:schemaRef ds:uri="9d63bd8f-f4f2-45db-b534-f5f5cad13c3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14D9707-7806-46DF-AE2C-81A103E75E1D}">
  <ds:schemaRefs>
    <ds:schemaRef ds:uri="http://schemas.microsoft.com/sharepoint/v3/contenttype/forms"/>
  </ds:schemaRefs>
</ds:datastoreItem>
</file>

<file path=customXml/itemProps3.xml><?xml version="1.0" encoding="utf-8"?>
<ds:datastoreItem xmlns:ds="http://schemas.openxmlformats.org/officeDocument/2006/customXml" ds:itemID="{83786AB6-6964-4C71-83E6-1B2707C7B0B7}">
  <ds:schemaRefs>
    <ds:schemaRef ds:uri="3e324e15-0398-4cf2-9dc0-7cdbdef8d018"/>
    <ds:schemaRef ds:uri="d33ae6fc-2923-46e8-a879-13f52e7fcd1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20</Slides>
  <Notes>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DR FRANCISCO GARCIA</dc:creator>
  <cp:revision>4</cp:revision>
  <dcterms:created xsi:type="dcterms:W3CDTF">2018-03-08T00:32:55Z</dcterms:created>
  <dcterms:modified xsi:type="dcterms:W3CDTF">2026-01-15T23:52:54Z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0x01010092835865EB09FA4F8AF0823547988769</vt:lpwstr>
  </property>
</Properties>
</file>