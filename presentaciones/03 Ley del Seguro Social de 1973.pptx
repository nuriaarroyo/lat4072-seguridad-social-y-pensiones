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0"/>
  </p:notesMasterIdLst>
  <p:sldIdLst>
    <p:sldId id="256" r:id="rId5"/>
    <p:sldId id="428" r:id="rId6"/>
    <p:sldId id="430" r:id="rId7"/>
    <p:sldId id="431" r:id="rId8"/>
    <p:sldId id="432" r:id="rId9"/>
    <p:sldId id="433" r:id="rId10"/>
    <p:sldId id="434" r:id="rId11"/>
    <p:sldId id="435" r:id="rId12"/>
    <p:sldId id="436" r:id="rId13"/>
    <p:sldId id="437" r:id="rId14"/>
    <p:sldId id="439" r:id="rId15"/>
    <p:sldId id="440" r:id="rId16"/>
    <p:sldId id="441" r:id="rId17"/>
    <p:sldId id="442" r:id="rId18"/>
    <p:sldId id="443" r:id="rId19"/>
    <p:sldId id="455" r:id="rId20"/>
    <p:sldId id="478" r:id="rId21"/>
    <p:sldId id="273" r:id="rId22"/>
    <p:sldId id="449" r:id="rId23"/>
    <p:sldId id="358" r:id="rId24"/>
    <p:sldId id="359" r:id="rId25"/>
    <p:sldId id="361" r:id="rId26"/>
    <p:sldId id="362" r:id="rId27"/>
    <p:sldId id="549" r:id="rId28"/>
    <p:sldId id="367"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3FE890-50A8-4FBC-BF02-F1872B0ABEBA}">
          <p14:sldIdLst>
            <p14:sldId id="256"/>
            <p14:sldId id="428"/>
            <p14:sldId id="430"/>
            <p14:sldId id="431"/>
            <p14:sldId id="432"/>
          </p14:sldIdLst>
        </p14:section>
        <p14:section name="Untitled Section" id="{B26EB6EF-A90E-4563-AE39-98D811A52E5D}">
          <p14:sldIdLst>
            <p14:sldId id="433"/>
            <p14:sldId id="434"/>
            <p14:sldId id="435"/>
            <p14:sldId id="436"/>
            <p14:sldId id="437"/>
            <p14:sldId id="439"/>
            <p14:sldId id="440"/>
            <p14:sldId id="441"/>
            <p14:sldId id="442"/>
            <p14:sldId id="443"/>
            <p14:sldId id="455"/>
            <p14:sldId id="478"/>
            <p14:sldId id="273"/>
            <p14:sldId id="449"/>
            <p14:sldId id="358"/>
            <p14:sldId id="359"/>
            <p14:sldId id="361"/>
            <p14:sldId id="362"/>
            <p14:sldId id="549"/>
            <p14:sldId id="3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3960"/>
    <a:srgbClr val="4F81B3"/>
    <a:srgbClr val="4F81BD"/>
    <a:srgbClr val="E9EDF4"/>
    <a:srgbClr val="D0D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135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co Garcia Castillo" userId="ca4edc8a-c411-49a5-9265-a00e92b5a364" providerId="ADAL" clId="{E4B78742-AA2D-4222-8F6B-ACB78C6C1F5B}"/>
    <pc:docChg chg="delSld modSection">
      <pc:chgData name="Francisco Garcia Castillo" userId="ca4edc8a-c411-49a5-9265-a00e92b5a364" providerId="ADAL" clId="{E4B78742-AA2D-4222-8F6B-ACB78C6C1F5B}" dt="2023-01-24T17:38:53.449" v="7" actId="2696"/>
      <pc:docMkLst>
        <pc:docMk/>
      </pc:docMkLst>
      <pc:sldChg chg="del">
        <pc:chgData name="Francisco Garcia Castillo" userId="ca4edc8a-c411-49a5-9265-a00e92b5a364" providerId="ADAL" clId="{E4B78742-AA2D-4222-8F6B-ACB78C6C1F5B}" dt="2023-01-24T17:38:53.261" v="0" actId="2696"/>
        <pc:sldMkLst>
          <pc:docMk/>
          <pc:sldMk cId="64864863" sldId="450"/>
        </pc:sldMkLst>
      </pc:sldChg>
      <pc:sldChg chg="del">
        <pc:chgData name="Francisco Garcia Castillo" userId="ca4edc8a-c411-49a5-9265-a00e92b5a364" providerId="ADAL" clId="{E4B78742-AA2D-4222-8F6B-ACB78C6C1F5B}" dt="2023-01-24T17:38:53.278" v="1" actId="2696"/>
        <pc:sldMkLst>
          <pc:docMk/>
          <pc:sldMk cId="1239530577" sldId="452"/>
        </pc:sldMkLst>
      </pc:sldChg>
      <pc:sldChg chg="del">
        <pc:chgData name="Francisco Garcia Castillo" userId="ca4edc8a-c411-49a5-9265-a00e92b5a364" providerId="ADAL" clId="{E4B78742-AA2D-4222-8F6B-ACB78C6C1F5B}" dt="2023-01-24T17:38:53.440" v="6" actId="2696"/>
        <pc:sldMkLst>
          <pc:docMk/>
          <pc:sldMk cId="78415735" sldId="453"/>
        </pc:sldMkLst>
      </pc:sldChg>
      <pc:sldChg chg="del">
        <pc:chgData name="Francisco Garcia Castillo" userId="ca4edc8a-c411-49a5-9265-a00e92b5a364" providerId="ADAL" clId="{E4B78742-AA2D-4222-8F6B-ACB78C6C1F5B}" dt="2023-01-24T17:38:53.288" v="2" actId="2696"/>
        <pc:sldMkLst>
          <pc:docMk/>
          <pc:sldMk cId="3565851015" sldId="454"/>
        </pc:sldMkLst>
      </pc:sldChg>
      <pc:sldChg chg="del">
        <pc:chgData name="Francisco Garcia Castillo" userId="ca4edc8a-c411-49a5-9265-a00e92b5a364" providerId="ADAL" clId="{E4B78742-AA2D-4222-8F6B-ACB78C6C1F5B}" dt="2023-01-24T17:38:53.321" v="4" actId="2696"/>
        <pc:sldMkLst>
          <pc:docMk/>
          <pc:sldMk cId="738208088" sldId="468"/>
        </pc:sldMkLst>
      </pc:sldChg>
      <pc:sldChg chg="del">
        <pc:chgData name="Francisco Garcia Castillo" userId="ca4edc8a-c411-49a5-9265-a00e92b5a364" providerId="ADAL" clId="{E4B78742-AA2D-4222-8F6B-ACB78C6C1F5B}" dt="2023-01-24T17:38:53.431" v="5" actId="2696"/>
        <pc:sldMkLst>
          <pc:docMk/>
          <pc:sldMk cId="2382449986" sldId="469"/>
        </pc:sldMkLst>
      </pc:sldChg>
      <pc:sldChg chg="del">
        <pc:chgData name="Francisco Garcia Castillo" userId="ca4edc8a-c411-49a5-9265-a00e92b5a364" providerId="ADAL" clId="{E4B78742-AA2D-4222-8F6B-ACB78C6C1F5B}" dt="2023-01-24T17:38:53.307" v="3" actId="2696"/>
        <pc:sldMkLst>
          <pc:docMk/>
          <pc:sldMk cId="2076764447" sldId="470"/>
        </pc:sldMkLst>
      </pc:sldChg>
      <pc:sldChg chg="del">
        <pc:chgData name="Francisco Garcia Castillo" userId="ca4edc8a-c411-49a5-9265-a00e92b5a364" providerId="ADAL" clId="{E4B78742-AA2D-4222-8F6B-ACB78C6C1F5B}" dt="2023-01-24T17:38:53.449" v="7" actId="2696"/>
        <pc:sldMkLst>
          <pc:docMk/>
          <pc:sldMk cId="85444844" sldId="473"/>
        </pc:sldMkLst>
      </pc:sldChg>
    </pc:docChg>
  </pc:docChgLst>
  <pc:docChgLst>
    <pc:chgData name="Francisco Garcia Castillo" userId="ca4edc8a-c411-49a5-9265-a00e92b5a364" providerId="ADAL" clId="{B00A4160-379B-4B17-A46F-9AD2F134ADB4}"/>
    <pc:docChg chg="custSel delSld modSld modSection">
      <pc:chgData name="Francisco Garcia Castillo" userId="ca4edc8a-c411-49a5-9265-a00e92b5a364" providerId="ADAL" clId="{B00A4160-379B-4B17-A46F-9AD2F134ADB4}" dt="2023-01-21T02:38:08.631" v="133" actId="47"/>
      <pc:docMkLst>
        <pc:docMk/>
      </pc:docMkLst>
      <pc:sldChg chg="modSp mod">
        <pc:chgData name="Francisco Garcia Castillo" userId="ca4edc8a-c411-49a5-9265-a00e92b5a364" providerId="ADAL" clId="{B00A4160-379B-4B17-A46F-9AD2F134ADB4}" dt="2023-01-21T02:27:39.058" v="0" actId="20577"/>
        <pc:sldMkLst>
          <pc:docMk/>
          <pc:sldMk cId="1655900126" sldId="437"/>
        </pc:sldMkLst>
        <pc:spChg chg="mod">
          <ac:chgData name="Francisco Garcia Castillo" userId="ca4edc8a-c411-49a5-9265-a00e92b5a364" providerId="ADAL" clId="{B00A4160-379B-4B17-A46F-9AD2F134ADB4}" dt="2023-01-21T02:27:39.058" v="0" actId="20577"/>
          <ac:spMkLst>
            <pc:docMk/>
            <pc:sldMk cId="1655900126" sldId="437"/>
            <ac:spMk id="7" creationId="{00000000-0000-0000-0000-000000000000}"/>
          </ac:spMkLst>
        </pc:spChg>
      </pc:sldChg>
      <pc:sldChg chg="addSp modSp mod">
        <pc:chgData name="Francisco Garcia Castillo" userId="ca4edc8a-c411-49a5-9265-a00e92b5a364" providerId="ADAL" clId="{B00A4160-379B-4B17-A46F-9AD2F134ADB4}" dt="2023-01-21T02:36:17.688" v="132" actId="1036"/>
        <pc:sldMkLst>
          <pc:docMk/>
          <pc:sldMk cId="202797156" sldId="549"/>
        </pc:sldMkLst>
        <pc:spChg chg="add mod">
          <ac:chgData name="Francisco Garcia Castillo" userId="ca4edc8a-c411-49a5-9265-a00e92b5a364" providerId="ADAL" clId="{B00A4160-379B-4B17-A46F-9AD2F134ADB4}" dt="2023-01-21T02:36:17.688" v="132" actId="1036"/>
          <ac:spMkLst>
            <pc:docMk/>
            <pc:sldMk cId="202797156" sldId="549"/>
            <ac:spMk id="2" creationId="{4CCFFD44-175B-C05D-3816-DF8B993651F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06F403-C21E-4751-A523-3DC2A8FBF97A}" type="datetimeFigureOut">
              <a:rPr lang="es-MX" smtClean="0"/>
              <a:t>24/01/2023</a:t>
            </a:fld>
            <a:endParaRPr lang="es-MX"/>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30FB1F-8A5F-44C3-A7B3-BD905E0BF84E}" type="slidenum">
              <a:rPr lang="es-MX" smtClean="0"/>
              <a:t>‹#›</a:t>
            </a:fld>
            <a:endParaRPr lang="es-MX"/>
          </a:p>
        </p:txBody>
      </p:sp>
    </p:spTree>
    <p:extLst>
      <p:ext uri="{BB962C8B-B14F-4D97-AF65-F5344CB8AC3E}">
        <p14:creationId xmlns:p14="http://schemas.microsoft.com/office/powerpoint/2010/main" val="828723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C6B0C-7637-4E5B-A650-B7AB8972CA1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s-MX"/>
          </a:p>
        </p:txBody>
      </p:sp>
      <p:sp>
        <p:nvSpPr>
          <p:cNvPr id="3" name="Subtitle 2">
            <a:extLst>
              <a:ext uri="{FF2B5EF4-FFF2-40B4-BE49-F238E27FC236}">
                <a16:creationId xmlns:a16="http://schemas.microsoft.com/office/drawing/2014/main" id="{A5D5BE21-386E-4A64-9127-8845794314B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4675520E-EA92-49C9-A0E0-A7ED9DA4C0BB}"/>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5" name="Footer Placeholder 4">
            <a:extLst>
              <a:ext uri="{FF2B5EF4-FFF2-40B4-BE49-F238E27FC236}">
                <a16:creationId xmlns:a16="http://schemas.microsoft.com/office/drawing/2014/main" id="{F08F9EFB-AB63-4F0F-BF36-7047D5BE9A54}"/>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5124A7F4-030E-41C2-BC15-D447F5DC84E2}"/>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3452210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2BD40-AD50-452C-B6AE-A322C4CB1645}"/>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18D54932-4195-41AC-8290-2E380C4A0E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3D0AC4BE-1C2A-4844-A228-22685F501189}"/>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5" name="Footer Placeholder 4">
            <a:extLst>
              <a:ext uri="{FF2B5EF4-FFF2-40B4-BE49-F238E27FC236}">
                <a16:creationId xmlns:a16="http://schemas.microsoft.com/office/drawing/2014/main" id="{7FA35A10-5ED3-4E78-B7E0-845427BA3ED1}"/>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C380DE5-FB2E-48F9-ABF6-B5B95648EA06}"/>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1236123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15E6B-BD52-42A8-AF2D-3C934E50D96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A8196AC2-47A0-4FE4-B9DF-005D46E6E880}"/>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DB19EE-E66B-4D44-AA0F-584CF0B6DD56}"/>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5" name="Footer Placeholder 4">
            <a:extLst>
              <a:ext uri="{FF2B5EF4-FFF2-40B4-BE49-F238E27FC236}">
                <a16:creationId xmlns:a16="http://schemas.microsoft.com/office/drawing/2014/main" id="{3AB5F8A6-F44D-43C1-BED9-584E451EFE3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6A70F3F9-8471-4E6E-80B0-37AEF838F32D}"/>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3976908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7FB39-EA20-4F62-A06A-7995310C81DA}"/>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1BF6A2A4-031F-4793-9D2C-59FF4F1CCBF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5E128817-2EB3-4007-9418-BD1A827B10D3}"/>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DE2A93BB-7702-4774-960B-4123771AA7CF}"/>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6" name="Footer Placeholder 5">
            <a:extLst>
              <a:ext uri="{FF2B5EF4-FFF2-40B4-BE49-F238E27FC236}">
                <a16:creationId xmlns:a16="http://schemas.microsoft.com/office/drawing/2014/main" id="{1BA22C93-B8F1-4667-8ECB-C60F4F1A6F79}"/>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1A2501EF-BF4B-4F15-A4B5-26D91C849D0C}"/>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3967468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7897F-F268-4CCA-8166-14689F414C24}"/>
              </a:ext>
            </a:extLst>
          </p:cNvPr>
          <p:cNvSpPr>
            <a:spLocks noGrp="1"/>
          </p:cNvSpPr>
          <p:nvPr>
            <p:ph type="title"/>
          </p:nvPr>
        </p:nvSpPr>
        <p:spPr>
          <a:xfrm>
            <a:off x="629841" y="365126"/>
            <a:ext cx="78867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D4B6FBD3-F712-4181-8C9F-96C4CE4A055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0A90593-07EA-470D-B5F4-CFBC1BA60ED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EDBFC897-4F81-419B-94A0-2398D1C6D46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F123260-F55E-44EA-8CB6-9E6A84A88F48}"/>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D25ABD95-C6CA-4C51-9935-E39D0B7EF4A2}"/>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8" name="Footer Placeholder 7">
            <a:extLst>
              <a:ext uri="{FF2B5EF4-FFF2-40B4-BE49-F238E27FC236}">
                <a16:creationId xmlns:a16="http://schemas.microsoft.com/office/drawing/2014/main" id="{67C3A05F-6767-4CC2-9117-6EEEEB881F77}"/>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B3AAED9E-5651-4733-928E-02BB5B90D7BB}"/>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153873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05E0E-F99D-4E80-BB44-289AE9B546B7}"/>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7EB38297-6386-45AA-9B82-B362F8C093A1}"/>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4" name="Footer Placeholder 3">
            <a:extLst>
              <a:ext uri="{FF2B5EF4-FFF2-40B4-BE49-F238E27FC236}">
                <a16:creationId xmlns:a16="http://schemas.microsoft.com/office/drawing/2014/main" id="{19716F72-7B1D-479B-9378-438A641AD36E}"/>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315F60BA-1E0D-4708-A67D-DB88A13745B0}"/>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136677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C8714E-31F7-4ACF-8DEA-72EE4CFF838E}"/>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3" name="Footer Placeholder 2">
            <a:extLst>
              <a:ext uri="{FF2B5EF4-FFF2-40B4-BE49-F238E27FC236}">
                <a16:creationId xmlns:a16="http://schemas.microsoft.com/office/drawing/2014/main" id="{31B013A1-145F-4C4C-9A9E-CF68AEDC68FD}"/>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27A2B6DB-CF63-4159-9BEB-75CDE470D789}"/>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653534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2220B-E79D-4A7B-8EDF-642E5D3444D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4015789C-B757-44EE-964C-D8624F8D1B2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1D38C445-53CA-4F76-88F6-CE4B7AF7B06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BB37D17-FD41-4CDA-95B8-75403B7445E7}"/>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6" name="Footer Placeholder 5">
            <a:extLst>
              <a:ext uri="{FF2B5EF4-FFF2-40B4-BE49-F238E27FC236}">
                <a16:creationId xmlns:a16="http://schemas.microsoft.com/office/drawing/2014/main" id="{8DE26C59-3DF6-4666-9998-E58D3FE5E714}"/>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10D54C09-B144-47D0-95A2-468F121FB70C}"/>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66607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10EF9-635B-4448-9574-BD2970C49B7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373A1C23-E56A-45BD-8A15-0A34F46EF7D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MX"/>
          </a:p>
        </p:txBody>
      </p:sp>
      <p:sp>
        <p:nvSpPr>
          <p:cNvPr id="4" name="Text Placeholder 3">
            <a:extLst>
              <a:ext uri="{FF2B5EF4-FFF2-40B4-BE49-F238E27FC236}">
                <a16:creationId xmlns:a16="http://schemas.microsoft.com/office/drawing/2014/main" id="{8BADDDDB-A8A1-4CEB-95FB-548656FE823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3E89AA1-B419-46C6-8CA6-F9F3165B754B}"/>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6" name="Footer Placeholder 5">
            <a:extLst>
              <a:ext uri="{FF2B5EF4-FFF2-40B4-BE49-F238E27FC236}">
                <a16:creationId xmlns:a16="http://schemas.microsoft.com/office/drawing/2014/main" id="{5A5F23E9-47FF-4570-BC62-027D980B873E}"/>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B591656-F133-425A-8631-C7126C23AD05}"/>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297576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B8FDB-D971-4A1C-B4D6-A41CF6AEFA60}"/>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120A07AD-296D-4430-B0FE-03941B1B30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B19F6371-F479-4239-81B0-821174C0E50C}"/>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5" name="Footer Placeholder 4">
            <a:extLst>
              <a:ext uri="{FF2B5EF4-FFF2-40B4-BE49-F238E27FC236}">
                <a16:creationId xmlns:a16="http://schemas.microsoft.com/office/drawing/2014/main" id="{A1B8FF72-4019-4669-896F-20CB3AF1D798}"/>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90CEDD4E-8AE1-4C9F-B76D-922C0560D4D5}"/>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37610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C7EBE3-7D15-438D-BAB9-5018FBBDF214}"/>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74CE0AAB-8041-4496-A104-843F5ECBD1B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CEDC9968-AC73-4679-80C5-6520DD9A2E90}"/>
              </a:ext>
            </a:extLst>
          </p:cNvPr>
          <p:cNvSpPr>
            <a:spLocks noGrp="1"/>
          </p:cNvSpPr>
          <p:nvPr>
            <p:ph type="dt" sz="half" idx="10"/>
          </p:nvPr>
        </p:nvSpPr>
        <p:spPr/>
        <p:txBody>
          <a:bodyPr/>
          <a:lstStyle/>
          <a:p>
            <a:fld id="{406B4532-6066-46FE-B392-34DC27DEAD1C}" type="datetimeFigureOut">
              <a:rPr lang="es-MX" smtClean="0"/>
              <a:t>24/01/2023</a:t>
            </a:fld>
            <a:endParaRPr lang="es-MX"/>
          </a:p>
        </p:txBody>
      </p:sp>
      <p:sp>
        <p:nvSpPr>
          <p:cNvPr id="5" name="Footer Placeholder 4">
            <a:extLst>
              <a:ext uri="{FF2B5EF4-FFF2-40B4-BE49-F238E27FC236}">
                <a16:creationId xmlns:a16="http://schemas.microsoft.com/office/drawing/2014/main" id="{18797D93-AF3F-4760-A1D4-7C439C89BB23}"/>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A1AA80E0-A24B-4216-BC70-113856A0A5B7}"/>
              </a:ext>
            </a:extLst>
          </p:cNvPr>
          <p:cNvSpPr>
            <a:spLocks noGrp="1"/>
          </p:cNvSpPr>
          <p:nvPr>
            <p:ph type="sldNum" sz="quarter" idx="12"/>
          </p:nvPr>
        </p:nvSpPr>
        <p:spPr/>
        <p:txBody>
          <a:bodyPr/>
          <a:lstStyle/>
          <a:p>
            <a:fld id="{BBBE17CB-E861-4045-9568-6D0C29872F63}" type="slidenum">
              <a:rPr lang="es-MX" smtClean="0"/>
              <a:t>‹#›</a:t>
            </a:fld>
            <a:endParaRPr lang="es-MX"/>
          </a:p>
        </p:txBody>
      </p:sp>
    </p:spTree>
    <p:extLst>
      <p:ext uri="{BB962C8B-B14F-4D97-AF65-F5344CB8AC3E}">
        <p14:creationId xmlns:p14="http://schemas.microsoft.com/office/powerpoint/2010/main" val="2748111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631F64-5B49-47F1-B166-E8A0330EC0B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09569584-F8DB-4D3D-B6E5-A7467C5D4D1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F786B8E6-2418-4444-A384-600F9BDBD8A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06B4532-6066-46FE-B392-34DC27DEAD1C}" type="datetimeFigureOut">
              <a:rPr lang="es-MX" smtClean="0"/>
              <a:t>24/01/2023</a:t>
            </a:fld>
            <a:endParaRPr lang="es-MX"/>
          </a:p>
        </p:txBody>
      </p:sp>
      <p:sp>
        <p:nvSpPr>
          <p:cNvPr id="5" name="Footer Placeholder 4">
            <a:extLst>
              <a:ext uri="{FF2B5EF4-FFF2-40B4-BE49-F238E27FC236}">
                <a16:creationId xmlns:a16="http://schemas.microsoft.com/office/drawing/2014/main" id="{DE4A4435-5D2E-4277-A0F8-6F98A200FF9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MX"/>
          </a:p>
        </p:txBody>
      </p:sp>
      <p:sp>
        <p:nvSpPr>
          <p:cNvPr id="6" name="Slide Number Placeholder 5">
            <a:extLst>
              <a:ext uri="{FF2B5EF4-FFF2-40B4-BE49-F238E27FC236}">
                <a16:creationId xmlns:a16="http://schemas.microsoft.com/office/drawing/2014/main" id="{135C7448-A96E-4ABF-ACA4-F704F1BB8FB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BE17CB-E861-4045-9568-6D0C29872F63}" type="slidenum">
              <a:rPr lang="es-MX" smtClean="0"/>
              <a:t>‹#›</a:t>
            </a:fld>
            <a:endParaRPr lang="es-MX"/>
          </a:p>
        </p:txBody>
      </p:sp>
    </p:spTree>
    <p:extLst>
      <p:ext uri="{BB962C8B-B14F-4D97-AF65-F5344CB8AC3E}">
        <p14:creationId xmlns:p14="http://schemas.microsoft.com/office/powerpoint/2010/main" val="16717390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MX"/>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www.pension-imss.com/index.php/blog/31-modalidad-40-para-pension-en-el-imss" TargetMode="Externa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hyperlink" Target="https://www.mibolsillo.com/retiro/Modalidad-40-del-IMSS-Guia-definitiva-20190815-0004.html" TargetMode="External"/><Relationship Id="rId4" Type="http://schemas.openxmlformats.org/officeDocument/2006/relationships/hyperlink" Target="https://www.elfinanciero.com.mx/economia/posible-obtener-una-pension-de-hasta-50-mil-pesos-con-ley-del-ims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s://www.gob.mx/cms/uploads/attachment/file/765537/Gui_a_Infogra_fica_SAR_IMSS_270922_COMPRESS.pdf"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4">
            <a:extLst>
              <a:ext uri="{FF2B5EF4-FFF2-40B4-BE49-F238E27FC236}">
                <a16:creationId xmlns:a16="http://schemas.microsoft.com/office/drawing/2014/main" id="{9B7A4424-783D-4A95-8835-C61F370B49DF}"/>
              </a:ext>
            </a:extLst>
          </p:cNvPr>
          <p:cNvCxnSpPr/>
          <p:nvPr/>
        </p:nvCxnSpPr>
        <p:spPr>
          <a:xfrm>
            <a:off x="971550" y="3125645"/>
            <a:ext cx="7164000" cy="1588"/>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8">
            <a:extLst>
              <a:ext uri="{FF2B5EF4-FFF2-40B4-BE49-F238E27FC236}">
                <a16:creationId xmlns:a16="http://schemas.microsoft.com/office/drawing/2014/main" id="{F2A591AF-2F4A-413C-9AF6-F87F6CF57B05}"/>
              </a:ext>
            </a:extLst>
          </p:cNvPr>
          <p:cNvSpPr txBox="1"/>
          <p:nvPr/>
        </p:nvSpPr>
        <p:spPr>
          <a:xfrm>
            <a:off x="106655" y="4411441"/>
            <a:ext cx="7959139" cy="615535"/>
          </a:xfrm>
          <a:prstGeom prst="rect">
            <a:avLst/>
          </a:prstGeom>
          <a:noFill/>
        </p:spPr>
        <p:txBody>
          <a:bodyPr wrap="square" lIns="91420" tIns="45711" rIns="91420" bIns="45711">
            <a:spAutoFit/>
          </a:bodyPr>
          <a:lstStyle/>
          <a:p>
            <a:pPr fontAlgn="base">
              <a:spcBef>
                <a:spcPct val="0"/>
              </a:spcBef>
              <a:spcAft>
                <a:spcPct val="0"/>
              </a:spcAft>
              <a:defRPr/>
            </a:pPr>
            <a:r>
              <a:rPr lang="es-MX" sz="3400" b="1" dirty="0">
                <a:solidFill>
                  <a:srgbClr val="1E3960"/>
                </a:solidFill>
                <a:latin typeface="Calibri" panose="020F0502020204030204"/>
              </a:rPr>
              <a:t>Seguridad social y pensiones</a:t>
            </a:r>
          </a:p>
        </p:txBody>
      </p:sp>
      <p:sp>
        <p:nvSpPr>
          <p:cNvPr id="6" name="TextBox 8">
            <a:extLst>
              <a:ext uri="{FF2B5EF4-FFF2-40B4-BE49-F238E27FC236}">
                <a16:creationId xmlns:a16="http://schemas.microsoft.com/office/drawing/2014/main" id="{7CA720E0-EB0C-4B0C-96CC-2776E7A4C881}"/>
              </a:ext>
            </a:extLst>
          </p:cNvPr>
          <p:cNvSpPr txBox="1"/>
          <p:nvPr/>
        </p:nvSpPr>
        <p:spPr>
          <a:xfrm>
            <a:off x="5486402" y="5749845"/>
            <a:ext cx="3161505" cy="461647"/>
          </a:xfrm>
          <a:prstGeom prst="rect">
            <a:avLst/>
          </a:prstGeom>
          <a:noFill/>
        </p:spPr>
        <p:txBody>
          <a:bodyPr wrap="square" lIns="91420" tIns="45711" rIns="91420" bIns="45711">
            <a:spAutoFit/>
          </a:bodyPr>
          <a:lstStyle/>
          <a:p>
            <a:pPr fontAlgn="base">
              <a:spcBef>
                <a:spcPct val="0"/>
              </a:spcBef>
              <a:spcAft>
                <a:spcPct val="0"/>
              </a:spcAft>
              <a:defRPr/>
            </a:pPr>
            <a:r>
              <a:rPr lang="es-MX" sz="2400" b="1" i="1" dirty="0">
                <a:solidFill>
                  <a:srgbClr val="1E3960"/>
                </a:solidFill>
                <a:latin typeface="+mj-lt"/>
              </a:rPr>
              <a:t>Francisco García Castillo</a:t>
            </a:r>
          </a:p>
        </p:txBody>
      </p:sp>
      <p:pic>
        <p:nvPicPr>
          <p:cNvPr id="2" name="Picture 1">
            <a:extLst>
              <a:ext uri="{FF2B5EF4-FFF2-40B4-BE49-F238E27FC236}">
                <a16:creationId xmlns:a16="http://schemas.microsoft.com/office/drawing/2014/main" id="{F9E644B4-6F94-457F-B5C6-FC3573C7B7F6}"/>
              </a:ext>
            </a:extLst>
          </p:cNvPr>
          <p:cNvPicPr>
            <a:picLocks noChangeAspect="1"/>
          </p:cNvPicPr>
          <p:nvPr/>
        </p:nvPicPr>
        <p:blipFill>
          <a:blip r:embed="rId2"/>
          <a:stretch>
            <a:fillRect/>
          </a:stretch>
        </p:blipFill>
        <p:spPr>
          <a:xfrm>
            <a:off x="0" y="0"/>
            <a:ext cx="9144000" cy="4304109"/>
          </a:xfrm>
          <a:prstGeom prst="rect">
            <a:avLst/>
          </a:prstGeom>
        </p:spPr>
      </p:pic>
    </p:spTree>
    <p:extLst>
      <p:ext uri="{BB962C8B-B14F-4D97-AF65-F5344CB8AC3E}">
        <p14:creationId xmlns:p14="http://schemas.microsoft.com/office/powerpoint/2010/main" val="3378975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ector recto 2">
            <a:extLst>
              <a:ext uri="{FF2B5EF4-FFF2-40B4-BE49-F238E27FC236}">
                <a16:creationId xmlns:a16="http://schemas.microsoft.com/office/drawing/2014/main" id="{F6A8E41B-3FCD-4813-B6B9-630BF74E83E1}"/>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Rectángulo 4">
            <a:extLst>
              <a:ext uri="{FF2B5EF4-FFF2-40B4-BE49-F238E27FC236}">
                <a16:creationId xmlns:a16="http://schemas.microsoft.com/office/drawing/2014/main" id="{5BBA86B9-43B5-4B9E-B251-4908E682400F}"/>
              </a:ext>
            </a:extLst>
          </p:cNvPr>
          <p:cNvSpPr/>
          <p:nvPr/>
        </p:nvSpPr>
        <p:spPr>
          <a:xfrm>
            <a:off x="256315" y="281921"/>
            <a:ext cx="8640000"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2400" b="1" i="1" u="none" strike="noStrike" kern="1200" cap="none" spc="0" normalizeH="0" baseline="0" noProof="0" dirty="0">
                <a:ln>
                  <a:noFill/>
                </a:ln>
                <a:solidFill>
                  <a:srgbClr val="1E3960"/>
                </a:solidFill>
                <a:effectLst/>
                <a:uLnTx/>
                <a:uFillTx/>
                <a:latin typeface="Calibri" panose="020F0502020204030204"/>
                <a:ea typeface="+mn-ea"/>
                <a:cs typeface="+mn-cs"/>
              </a:rPr>
              <a:t>Syllabus</a:t>
            </a:r>
          </a:p>
        </p:txBody>
      </p:sp>
      <p:sp>
        <p:nvSpPr>
          <p:cNvPr id="6" name="Rectangle 3">
            <a:extLst>
              <a:ext uri="{FF2B5EF4-FFF2-40B4-BE49-F238E27FC236}">
                <a16:creationId xmlns:a16="http://schemas.microsoft.com/office/drawing/2014/main" id="{6C970AF1-80F8-4FDA-94D3-8F5B34DBDC8E}"/>
              </a:ext>
            </a:extLst>
          </p:cNvPr>
          <p:cNvSpPr txBox="1">
            <a:spLocks noChangeArrowheads="1"/>
          </p:cNvSpPr>
          <p:nvPr/>
        </p:nvSpPr>
        <p:spPr bwMode="auto">
          <a:xfrm>
            <a:off x="252894" y="976191"/>
            <a:ext cx="8640000" cy="565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85000" lnSpcReduction="20000"/>
          </a:bodyPr>
          <a:lstStyle>
            <a:lvl1pPr marL="342900" indent="-342900" algn="just" rtl="0" eaLnBrk="0" fontAlgn="base" hangingPunct="0">
              <a:spcBef>
                <a:spcPct val="35000"/>
              </a:spcBef>
              <a:spcAft>
                <a:spcPct val="35000"/>
              </a:spcAft>
              <a:buClr>
                <a:srgbClr val="003399"/>
              </a:buClr>
              <a:buFont typeface="Wingdings" pitchFamily="2" charset="2"/>
              <a:buChar char="n"/>
              <a:defRPr sz="1600">
                <a:solidFill>
                  <a:schemeClr val="tx1"/>
                </a:solidFill>
                <a:latin typeface="+mn-lt"/>
                <a:ea typeface="+mn-ea"/>
                <a:cs typeface="+mn-cs"/>
              </a:defRPr>
            </a:lvl1pPr>
            <a:lvl2pPr marL="742950" indent="-285750" algn="just" rtl="0" eaLnBrk="0" fontAlgn="base" hangingPunct="0">
              <a:spcBef>
                <a:spcPct val="35000"/>
              </a:spcBef>
              <a:spcAft>
                <a:spcPct val="35000"/>
              </a:spcAft>
              <a:buClr>
                <a:srgbClr val="003399"/>
              </a:buClr>
              <a:buFont typeface="Wingdings" pitchFamily="2" charset="2"/>
              <a:buChar char="Ø"/>
              <a:defRPr sz="1400">
                <a:solidFill>
                  <a:schemeClr val="tx1"/>
                </a:solidFill>
                <a:latin typeface="+mn-lt"/>
              </a:defRPr>
            </a:lvl2pPr>
            <a:lvl3pPr marL="1143000" indent="-228600" algn="just" rtl="0" eaLnBrk="0" fontAlgn="base" hangingPunct="0">
              <a:spcBef>
                <a:spcPct val="35000"/>
              </a:spcBef>
              <a:spcAft>
                <a:spcPct val="35000"/>
              </a:spcAft>
              <a:buClr>
                <a:srgbClr val="003399"/>
              </a:buClr>
              <a:buChar char="•"/>
              <a:defRPr sz="1200">
                <a:solidFill>
                  <a:schemeClr val="tx1"/>
                </a:solidFill>
                <a:latin typeface="+mn-lt"/>
              </a:defRPr>
            </a:lvl3pPr>
            <a:lvl4pPr marL="1600200" indent="-228600" algn="just" rtl="0" eaLnBrk="0" fontAlgn="base" hangingPunct="0">
              <a:spcBef>
                <a:spcPct val="35000"/>
              </a:spcBef>
              <a:spcAft>
                <a:spcPct val="35000"/>
              </a:spcAft>
              <a:buClr>
                <a:srgbClr val="003399"/>
              </a:buClr>
              <a:buChar char="•"/>
              <a:defRPr sz="1000">
                <a:solidFill>
                  <a:schemeClr val="tx1"/>
                </a:solidFill>
                <a:latin typeface="+mn-lt"/>
              </a:defRPr>
            </a:lvl4pPr>
            <a:lvl5pPr marL="2057400" indent="-228600" algn="just" rtl="0" eaLnBrk="0" fontAlgn="base" hangingPunct="0">
              <a:spcBef>
                <a:spcPct val="35000"/>
              </a:spcBef>
              <a:spcAft>
                <a:spcPct val="35000"/>
              </a:spcAft>
              <a:buClr>
                <a:srgbClr val="003399"/>
              </a:buClr>
              <a:buChar char="•"/>
              <a:defRPr sz="1200">
                <a:solidFill>
                  <a:schemeClr val="tx1"/>
                </a:solidFill>
                <a:latin typeface="+mn-lt"/>
              </a:defRPr>
            </a:lvl5pPr>
            <a:lvl6pPr marL="2514600" indent="-228600" algn="just" rtl="0" fontAlgn="base">
              <a:spcBef>
                <a:spcPct val="35000"/>
              </a:spcBef>
              <a:spcAft>
                <a:spcPct val="35000"/>
              </a:spcAft>
              <a:buClr>
                <a:srgbClr val="003399"/>
              </a:buClr>
              <a:buChar char="•"/>
              <a:defRPr sz="1200">
                <a:solidFill>
                  <a:schemeClr val="tx1"/>
                </a:solidFill>
                <a:latin typeface="+mn-lt"/>
              </a:defRPr>
            </a:lvl6pPr>
            <a:lvl7pPr marL="2971800" indent="-228600" algn="just" rtl="0" fontAlgn="base">
              <a:spcBef>
                <a:spcPct val="35000"/>
              </a:spcBef>
              <a:spcAft>
                <a:spcPct val="35000"/>
              </a:spcAft>
              <a:buClr>
                <a:srgbClr val="003399"/>
              </a:buClr>
              <a:buChar char="•"/>
              <a:defRPr sz="1200">
                <a:solidFill>
                  <a:schemeClr val="tx1"/>
                </a:solidFill>
                <a:latin typeface="+mn-lt"/>
              </a:defRPr>
            </a:lvl7pPr>
            <a:lvl8pPr marL="3429000" indent="-228600" algn="just" rtl="0" fontAlgn="base">
              <a:spcBef>
                <a:spcPct val="35000"/>
              </a:spcBef>
              <a:spcAft>
                <a:spcPct val="35000"/>
              </a:spcAft>
              <a:buClr>
                <a:srgbClr val="003399"/>
              </a:buClr>
              <a:buChar char="•"/>
              <a:defRPr sz="1200">
                <a:solidFill>
                  <a:schemeClr val="tx1"/>
                </a:solidFill>
                <a:latin typeface="+mn-lt"/>
              </a:defRPr>
            </a:lvl8pPr>
            <a:lvl9pPr marL="3886200" indent="-228600" algn="just" rtl="0" fontAlgn="base">
              <a:spcBef>
                <a:spcPct val="35000"/>
              </a:spcBef>
              <a:spcAft>
                <a:spcPct val="35000"/>
              </a:spcAft>
              <a:buClr>
                <a:srgbClr val="003399"/>
              </a:buClr>
              <a:buChar char="•"/>
              <a:defRPr sz="1200">
                <a:solidFill>
                  <a:schemeClr val="tx1"/>
                </a:solidFill>
                <a:latin typeface="+mn-lt"/>
              </a:defRPr>
            </a:lvl9pPr>
          </a:lstStyle>
          <a:p>
            <a:pPr marL="265113" lvl="0" indent="-265113" defTabSz="914400" eaLnBrk="1" hangingPunct="1">
              <a:lnSpc>
                <a:spcPct val="160000"/>
              </a:lnSpc>
              <a:buClrTx/>
              <a:buFont typeface="Wingdings" panose="05000000000000000000" pitchFamily="2" charset="2"/>
              <a:buChar char="q"/>
              <a:defRPr/>
            </a:pPr>
            <a:r>
              <a:rPr lang="es-MX" sz="1400" kern="0" dirty="0">
                <a:solidFill>
                  <a:schemeClr val="bg1">
                    <a:lumMod val="85000"/>
                  </a:schemeClr>
                </a:solidFill>
                <a:latin typeface="Verdana"/>
              </a:rPr>
              <a:t>Esquemas de planes de pensiones</a:t>
            </a:r>
          </a:p>
          <a:p>
            <a:pPr marL="265113" lvl="0" indent="-265113" defTabSz="914400" eaLnBrk="1" hangingPunct="1">
              <a:lnSpc>
                <a:spcPct val="160000"/>
              </a:lnSpc>
              <a:buClrTx/>
              <a:buFont typeface="Wingdings" panose="05000000000000000000" pitchFamily="2" charset="2"/>
              <a:buChar char="q"/>
              <a:defRPr/>
            </a:pPr>
            <a:r>
              <a:rPr lang="es-MX" sz="1400" kern="0" dirty="0">
                <a:solidFill>
                  <a:schemeClr val="bg1">
                    <a:lumMod val="85000"/>
                  </a:schemeClr>
                </a:solidFill>
                <a:latin typeface="Verdana"/>
              </a:rPr>
              <a:t>La Ley del Seguro Social y diversos aspectos de la vejez en México</a:t>
            </a:r>
          </a:p>
          <a:p>
            <a:pPr marL="685800" lvl="1" defTabSz="914400" eaLnBrk="1" hangingPunct="1">
              <a:lnSpc>
                <a:spcPct val="160000"/>
              </a:lnSpc>
              <a:buClrTx/>
              <a:buFont typeface="Courier New" panose="02070309020205020404" pitchFamily="49" charset="0"/>
              <a:buChar char="o"/>
              <a:defRPr/>
            </a:pPr>
            <a:r>
              <a:rPr lang="es-MX" kern="0" dirty="0">
                <a:solidFill>
                  <a:schemeClr val="bg1">
                    <a:lumMod val="85000"/>
                  </a:schemeClr>
                </a:solidFill>
                <a:latin typeface="Verdana"/>
              </a:rPr>
              <a:t>Ley del Seguro Social (con reformas vigentes a partir del 01 de enero de 2021)</a:t>
            </a:r>
          </a:p>
          <a:p>
            <a:pPr marL="685800" lvl="1" defTabSz="914400" eaLnBrk="1" hangingPunct="1">
              <a:lnSpc>
                <a:spcPct val="160000"/>
              </a:lnSpc>
              <a:buClrTx/>
              <a:buFont typeface="Courier New" panose="02070309020205020404" pitchFamily="49" charset="0"/>
              <a:buChar char="o"/>
              <a:defRPr/>
            </a:pPr>
            <a:r>
              <a:rPr lang="es-MX" kern="0" dirty="0">
                <a:solidFill>
                  <a:schemeClr val="bg1">
                    <a:lumMod val="85000"/>
                  </a:schemeClr>
                </a:solidFill>
                <a:latin typeface="Verdana"/>
              </a:rPr>
              <a:t>Aspectos de la vejez en México</a:t>
            </a:r>
          </a:p>
          <a:p>
            <a:pPr marL="685800" lvl="1" defTabSz="914400" eaLnBrk="1" hangingPunct="1">
              <a:lnSpc>
                <a:spcPct val="160000"/>
              </a:lnSpc>
              <a:buClrTx/>
              <a:buFont typeface="Courier New" panose="02070309020205020404" pitchFamily="49" charset="0"/>
              <a:buChar char="o"/>
              <a:defRPr/>
            </a:pPr>
            <a:r>
              <a:rPr lang="es-MX" kern="0" dirty="0">
                <a:latin typeface="Verdana"/>
              </a:rPr>
              <a:t>Ley del Seguro Social de 1973</a:t>
            </a:r>
          </a:p>
          <a:p>
            <a:pPr marL="265113" lvl="0" indent="-265113" defTabSz="914400" eaLnBrk="1" hangingPunct="1">
              <a:lnSpc>
                <a:spcPct val="160000"/>
              </a:lnSpc>
              <a:buClr>
                <a:schemeClr val="bg1">
                  <a:lumMod val="85000"/>
                </a:schemeClr>
              </a:buClr>
              <a:buFont typeface="Wingdings" panose="05000000000000000000" pitchFamily="2" charset="2"/>
              <a:buChar char="q"/>
              <a:defRPr/>
            </a:pPr>
            <a:r>
              <a:rPr lang="es-ES" sz="1400" kern="0" dirty="0">
                <a:solidFill>
                  <a:schemeClr val="bg1">
                    <a:lumMod val="85000"/>
                  </a:schemeClr>
                </a:solidFill>
                <a:latin typeface="Verdana"/>
              </a:rPr>
              <a:t>Ejemplo de la Nota Técnica para la determinación del Monto Constitutivo para las Pensiones Derivadas de la Seguridad Social:</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ES" kern="0" dirty="0">
                <a:solidFill>
                  <a:schemeClr val="bg1">
                    <a:lumMod val="85000"/>
                  </a:schemeClr>
                </a:solidFill>
                <a:latin typeface="Verdana"/>
              </a:rPr>
              <a:t>Seguro de Invalidez</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ES" kern="0" dirty="0">
                <a:solidFill>
                  <a:schemeClr val="bg1">
                    <a:lumMod val="85000"/>
                  </a:schemeClr>
                </a:solidFill>
                <a:latin typeface="Verdana"/>
              </a:rPr>
              <a:t> Caso del Seguro de Retiro.</a:t>
            </a:r>
            <a:endParaRPr lang="es-MX" kern="0" dirty="0">
              <a:solidFill>
                <a:schemeClr val="bg1">
                  <a:lumMod val="85000"/>
                </a:schemeClr>
              </a:solidFill>
              <a:latin typeface="Verdana"/>
            </a:endParaRPr>
          </a:p>
          <a:p>
            <a:pPr marL="265113" indent="-265113" defTabSz="914400" eaLnBrk="1" hangingPunct="1">
              <a:lnSpc>
                <a:spcPct val="160000"/>
              </a:lnSpc>
              <a:buClr>
                <a:schemeClr val="bg1">
                  <a:lumMod val="85000"/>
                </a:schemeClr>
              </a:buClr>
              <a:buFont typeface="Wingdings" panose="05000000000000000000" pitchFamily="2" charset="2"/>
              <a:buChar char="q"/>
              <a:defRPr/>
            </a:pPr>
            <a:r>
              <a:rPr lang="es-MX" sz="1400" kern="0" dirty="0">
                <a:solidFill>
                  <a:schemeClr val="bg1">
                    <a:lumMod val="85000"/>
                  </a:schemeClr>
                </a:solidFill>
                <a:latin typeface="Verdana"/>
              </a:rPr>
              <a:t>Planes privados de pensiones</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MX" kern="0" dirty="0">
                <a:solidFill>
                  <a:schemeClr val="bg1">
                    <a:lumMod val="85000"/>
                  </a:schemeClr>
                </a:solidFill>
                <a:latin typeface="Verdana"/>
              </a:rPr>
              <a:t>Diseño del plan de pensiones</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MX" kern="0" dirty="0">
                <a:solidFill>
                  <a:schemeClr val="bg1">
                    <a:lumMod val="85000"/>
                  </a:schemeClr>
                </a:solidFill>
                <a:latin typeface="Verdana"/>
              </a:rPr>
              <a:t>Generalidades sobre la valuación actuarial del plan</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MX" kern="0" dirty="0">
                <a:solidFill>
                  <a:schemeClr val="bg1">
                    <a:lumMod val="85000"/>
                  </a:schemeClr>
                </a:solidFill>
                <a:latin typeface="Verdana"/>
              </a:rPr>
              <a:t>Selección de hipótesis actuariales</a:t>
            </a:r>
          </a:p>
          <a:p>
            <a:pPr marL="685800" lvl="1" defTabSz="914400" eaLnBrk="1" hangingPunct="1">
              <a:lnSpc>
                <a:spcPct val="160000"/>
              </a:lnSpc>
              <a:buClr>
                <a:schemeClr val="bg1">
                  <a:lumMod val="85000"/>
                </a:schemeClr>
              </a:buClr>
              <a:buFont typeface="Courier New" panose="02070309020205020404" pitchFamily="49" charset="0"/>
              <a:buChar char="o"/>
              <a:defRPr/>
            </a:pPr>
            <a:r>
              <a:rPr lang="es-MX" kern="0" dirty="0">
                <a:solidFill>
                  <a:schemeClr val="bg1">
                    <a:lumMod val="85000"/>
                  </a:schemeClr>
                </a:solidFill>
                <a:latin typeface="Verdana"/>
              </a:rPr>
              <a:t>Selección de métodos de costeo actuarial</a:t>
            </a:r>
          </a:p>
          <a:p>
            <a:pPr marL="265113" indent="-265113" defTabSz="914400" eaLnBrk="1" hangingPunct="1">
              <a:lnSpc>
                <a:spcPct val="160000"/>
              </a:lnSpc>
              <a:buClr>
                <a:schemeClr val="bg1">
                  <a:lumMod val="85000"/>
                </a:schemeClr>
              </a:buClr>
              <a:buFont typeface="Wingdings" panose="05000000000000000000" pitchFamily="2" charset="2"/>
              <a:buChar char="q"/>
              <a:defRPr/>
            </a:pPr>
            <a:r>
              <a:rPr lang="es-MX" sz="1400" kern="0" dirty="0">
                <a:solidFill>
                  <a:schemeClr val="bg1">
                    <a:lumMod val="85000"/>
                  </a:schemeClr>
                </a:solidFill>
                <a:latin typeface="Verdana"/>
              </a:rPr>
              <a:t>Aspectos contables y financieros (Boletín D 3) e implantación del plan de pensiones.</a:t>
            </a:r>
          </a:p>
        </p:txBody>
      </p:sp>
    </p:spTree>
    <p:extLst>
      <p:ext uri="{BB962C8B-B14F-4D97-AF65-F5344CB8AC3E}">
        <p14:creationId xmlns:p14="http://schemas.microsoft.com/office/powerpoint/2010/main" val="2606730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0"/>
            <a:ext cx="8640000" cy="3511602"/>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La entrada en vigor de la nueva Ley del Seguro Social en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1997</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sustituyó el sistema denominado de reparto que era administrado por el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IMSS</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por uno de capitalización de cuentas individuales operado por las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AFORES</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que son administradoras privadas especializadas en el manejo de fondos para el retiro.</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Bajo el sistema de reparto, las pensiones se pagaban con las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aportaciones</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de los trabajadores en activo, los patrones y el gobierno, más los rendimientos de los fondos de retiro acumulados.</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1390309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2"/>
            <a:ext cx="8640000" cy="3511602"/>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Debido al envejecimiento de la población y a malas políticas de inversión, ya que la administración de esos recursos no era la adecuada y era el gobierno quien garantizaba el pago de la pensión, éste esquema empezó a generar un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déficit financiero</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Actualmente, bajo el nuevo sistema, las tres aportaciones se depositan en una cuenta individual a nombre del trabajador y se destinan al pago de su pensión. </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Así, el monto que recibe depende de las aportaciones realizadas y el rendimiento de la cuenta individual.</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1834089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2"/>
            <a:ext cx="8640000" cy="3665491"/>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 los trabajadores en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transición</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es decir, aquellos que empezaron a cotizar antes de la nueva Ley del Seguro Social, la actual legislación en su Artículo 11 Transitorio les concede el derecho a elegir bajo que legislación quieren retirarse:</a:t>
            </a:r>
          </a:p>
          <a:p>
            <a:pPr marL="742950" marR="0" lvl="1" indent="-285750" algn="just" defTabSz="914400" rtl="0" eaLnBrk="1" fontAlgn="base" latinLnBrk="0" hangingPunct="1">
              <a:lnSpc>
                <a:spcPct val="150000"/>
              </a:lnSpc>
              <a:spcBef>
                <a:spcPts val="600"/>
              </a:spcBef>
              <a:spcAft>
                <a:spcPts val="600"/>
              </a:spcAft>
              <a:buClrTx/>
              <a:buSzTx/>
              <a:buFont typeface="Courier New" panose="02070309020205020404" pitchFamily="49" charset="0"/>
              <a:buChar char="o"/>
              <a:tabLst/>
              <a:defRPr/>
            </a:pP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Primera opción:</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El régimen de la Ley del Seguro Social de 1973</a:t>
            </a:r>
          </a:p>
          <a:p>
            <a:pPr marL="742950" marR="0" lvl="1" indent="-285750" algn="just" defTabSz="914400" rtl="0" eaLnBrk="1" fontAlgn="base" latinLnBrk="0" hangingPunct="1">
              <a:lnSpc>
                <a:spcPct val="150000"/>
              </a:lnSpc>
              <a:spcBef>
                <a:spcPts val="600"/>
              </a:spcBef>
              <a:spcAft>
                <a:spcPts val="600"/>
              </a:spcAft>
              <a:buClrTx/>
              <a:buSzTx/>
              <a:buFont typeface="Courier New" panose="02070309020205020404" pitchFamily="49" charset="0"/>
              <a:buChar char="o"/>
              <a:tabLst/>
              <a:defRPr/>
            </a:pP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Segunda opción:</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El régimen de la Ley del Seguro Social de 1997</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842588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2"/>
            <a:ext cx="8640000" cy="4968027"/>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El régimen de pensiones de la Ley del seguro Social de 1973, comprende los artículos: 137 al 159 y del 167 al 171.</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Pensión por cesantía en edad avanzada</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Para pensionarse bajo esta modalidad es necesario que el trabajador tenga cotizadas en el IMSS un mínimo de 500 semanas, edad entre 60 y 64 años y contar con trabajo remunerado, así como renunciar a su actual empleo (Artículo 143 y 145 LSS 1973).</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Pensión por vejez</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Para pensionarse por Vejez, se requiere un mínimo de 500 semanas cotizadas (Artículo 138 LSS 1973) y edad de 65 años o más. Además, aplica la conservación y el reconocimiento de derechos tanto para él como a su familia. Articulo 137 LSS 1973.</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1796631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1"/>
            <a:ext cx="8640000" cy="4706417"/>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Los artículos 164 y 165 de la LSS señalan el derecho del trabajador pensionado a recibir una asignación familiar y una ayuda asistencial las cuales serán explicadas por separado.</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Las pensiones son revisadas cada vez que se modifique el salario mínimo del Distrito Federal (Artículo 172 LSS 1973).</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En términos de la Ley de 1973, articulo 171, la pensión por cesantía en edad avanzada se otorgará dependiendo de la edad de retiro y de las semanas de cotización acreditadas.</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En el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Cuadro 1</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siguiente se muestran los porcentajes que le corresponden al trabajador si acredita 500 semanas.</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1649542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5" y="4080456"/>
            <a:ext cx="8633253" cy="2526717"/>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Por su parte, el Artículo 167 LSS 1973 señala: las pensiones anuales de invalidez y de vejez se compondrán de una cuantía básica y de incrementos anuales computados de acuerdo con el número de cotizaciones semanales reconocidas al asegurado con posterioridad a las primeras quinientas semanas de cotización, según la cuantía básica y los incrementos serán calculados conforme el Cuadro 2.</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graphicFrame>
        <p:nvGraphicFramePr>
          <p:cNvPr id="2" name="Table 1"/>
          <p:cNvGraphicFramePr>
            <a:graphicFrameLocks noGrp="1"/>
          </p:cNvGraphicFramePr>
          <p:nvPr/>
        </p:nvGraphicFramePr>
        <p:xfrm>
          <a:off x="2301927" y="1533479"/>
          <a:ext cx="4549252" cy="2595880"/>
        </p:xfrm>
        <a:graphic>
          <a:graphicData uri="http://schemas.openxmlformats.org/drawingml/2006/table">
            <a:tbl>
              <a:tblPr firstRow="1" bandRow="1">
                <a:tableStyleId>{073A0DAA-6AF3-43AB-8588-CEC1D06C72B9}</a:tableStyleId>
              </a:tblPr>
              <a:tblGrid>
                <a:gridCol w="2274626">
                  <a:extLst>
                    <a:ext uri="{9D8B030D-6E8A-4147-A177-3AD203B41FA5}">
                      <a16:colId xmlns:a16="http://schemas.microsoft.com/office/drawing/2014/main" val="4183941247"/>
                    </a:ext>
                  </a:extLst>
                </a:gridCol>
                <a:gridCol w="2274626">
                  <a:extLst>
                    <a:ext uri="{9D8B030D-6E8A-4147-A177-3AD203B41FA5}">
                      <a16:colId xmlns:a16="http://schemas.microsoft.com/office/drawing/2014/main" val="635198250"/>
                    </a:ext>
                  </a:extLst>
                </a:gridCol>
              </a:tblGrid>
              <a:tr h="370840">
                <a:tc>
                  <a:txBody>
                    <a:bodyPr/>
                    <a:lstStyle/>
                    <a:p>
                      <a:pPr algn="ctr"/>
                      <a:r>
                        <a:rPr lang="es-MX" sz="1600" dirty="0">
                          <a:latin typeface="Verdana" panose="020B0604030504040204" pitchFamily="34" charset="0"/>
                          <a:ea typeface="Verdana" panose="020B0604030504040204" pitchFamily="34" charset="0"/>
                        </a:rPr>
                        <a:t>Edad</a:t>
                      </a:r>
                    </a:p>
                  </a:txBody>
                  <a:tcPr/>
                </a:tc>
                <a:tc>
                  <a:txBody>
                    <a:bodyPr/>
                    <a:lstStyle/>
                    <a:p>
                      <a:pPr algn="ctr"/>
                      <a:r>
                        <a:rPr lang="es-MX" sz="1600" dirty="0">
                          <a:latin typeface="Verdana" panose="020B0604030504040204" pitchFamily="34" charset="0"/>
                          <a:ea typeface="Verdana" panose="020B0604030504040204" pitchFamily="34" charset="0"/>
                        </a:rPr>
                        <a:t>% pensión</a:t>
                      </a:r>
                    </a:p>
                  </a:txBody>
                  <a:tcPr/>
                </a:tc>
                <a:extLst>
                  <a:ext uri="{0D108BD9-81ED-4DB2-BD59-A6C34878D82A}">
                    <a16:rowId xmlns:a16="http://schemas.microsoft.com/office/drawing/2014/main" val="116626018"/>
                  </a:ext>
                </a:extLst>
              </a:tr>
              <a:tr h="370840">
                <a:tc>
                  <a:txBody>
                    <a:bodyPr/>
                    <a:lstStyle/>
                    <a:p>
                      <a:pPr algn="ctr"/>
                      <a:r>
                        <a:rPr lang="es-MX" sz="1600" dirty="0">
                          <a:latin typeface="Verdana" panose="020B0604030504040204" pitchFamily="34" charset="0"/>
                          <a:ea typeface="Verdana" panose="020B0604030504040204" pitchFamily="34" charset="0"/>
                        </a:rPr>
                        <a:t>60</a:t>
                      </a:r>
                    </a:p>
                  </a:txBody>
                  <a:tcPr/>
                </a:tc>
                <a:tc>
                  <a:txBody>
                    <a:bodyPr/>
                    <a:lstStyle/>
                    <a:p>
                      <a:pPr algn="ctr"/>
                      <a:r>
                        <a:rPr lang="es-MX" sz="1600" dirty="0">
                          <a:latin typeface="Verdana" panose="020B0604030504040204" pitchFamily="34" charset="0"/>
                          <a:ea typeface="Verdana" panose="020B0604030504040204" pitchFamily="34" charset="0"/>
                        </a:rPr>
                        <a:t>75</a:t>
                      </a:r>
                    </a:p>
                  </a:txBody>
                  <a:tcPr/>
                </a:tc>
                <a:extLst>
                  <a:ext uri="{0D108BD9-81ED-4DB2-BD59-A6C34878D82A}">
                    <a16:rowId xmlns:a16="http://schemas.microsoft.com/office/drawing/2014/main" val="2592333038"/>
                  </a:ext>
                </a:extLst>
              </a:tr>
              <a:tr h="370840">
                <a:tc>
                  <a:txBody>
                    <a:bodyPr/>
                    <a:lstStyle/>
                    <a:p>
                      <a:pPr algn="ctr"/>
                      <a:r>
                        <a:rPr lang="es-MX" sz="1600" dirty="0">
                          <a:latin typeface="Verdana" panose="020B0604030504040204" pitchFamily="34" charset="0"/>
                          <a:ea typeface="Verdana" panose="020B0604030504040204" pitchFamily="34" charset="0"/>
                        </a:rPr>
                        <a:t>61</a:t>
                      </a:r>
                    </a:p>
                  </a:txBody>
                  <a:tcPr/>
                </a:tc>
                <a:tc>
                  <a:txBody>
                    <a:bodyPr/>
                    <a:lstStyle/>
                    <a:p>
                      <a:pPr algn="ctr"/>
                      <a:r>
                        <a:rPr lang="es-MX" sz="1600" dirty="0">
                          <a:latin typeface="Verdana" panose="020B0604030504040204" pitchFamily="34" charset="0"/>
                          <a:ea typeface="Verdana" panose="020B0604030504040204" pitchFamily="34" charset="0"/>
                        </a:rPr>
                        <a:t>80</a:t>
                      </a:r>
                    </a:p>
                  </a:txBody>
                  <a:tcPr/>
                </a:tc>
                <a:extLst>
                  <a:ext uri="{0D108BD9-81ED-4DB2-BD59-A6C34878D82A}">
                    <a16:rowId xmlns:a16="http://schemas.microsoft.com/office/drawing/2014/main" val="3747219393"/>
                  </a:ext>
                </a:extLst>
              </a:tr>
              <a:tr h="370840">
                <a:tc>
                  <a:txBody>
                    <a:bodyPr/>
                    <a:lstStyle/>
                    <a:p>
                      <a:pPr algn="ctr"/>
                      <a:r>
                        <a:rPr lang="es-MX" sz="1600" dirty="0">
                          <a:latin typeface="Verdana" panose="020B0604030504040204" pitchFamily="34" charset="0"/>
                          <a:ea typeface="Verdana" panose="020B0604030504040204" pitchFamily="34" charset="0"/>
                        </a:rPr>
                        <a:t>62</a:t>
                      </a:r>
                    </a:p>
                  </a:txBody>
                  <a:tcPr/>
                </a:tc>
                <a:tc>
                  <a:txBody>
                    <a:bodyPr/>
                    <a:lstStyle/>
                    <a:p>
                      <a:pPr algn="ctr"/>
                      <a:r>
                        <a:rPr lang="es-MX" sz="1600" dirty="0">
                          <a:latin typeface="Verdana" panose="020B0604030504040204" pitchFamily="34" charset="0"/>
                          <a:ea typeface="Verdana" panose="020B0604030504040204" pitchFamily="34" charset="0"/>
                        </a:rPr>
                        <a:t>85</a:t>
                      </a:r>
                    </a:p>
                  </a:txBody>
                  <a:tcPr/>
                </a:tc>
                <a:extLst>
                  <a:ext uri="{0D108BD9-81ED-4DB2-BD59-A6C34878D82A}">
                    <a16:rowId xmlns:a16="http://schemas.microsoft.com/office/drawing/2014/main" val="3574649390"/>
                  </a:ext>
                </a:extLst>
              </a:tr>
              <a:tr h="370840">
                <a:tc>
                  <a:txBody>
                    <a:bodyPr/>
                    <a:lstStyle/>
                    <a:p>
                      <a:pPr algn="ctr"/>
                      <a:r>
                        <a:rPr lang="es-MX" sz="1600" dirty="0">
                          <a:latin typeface="Verdana" panose="020B0604030504040204" pitchFamily="34" charset="0"/>
                          <a:ea typeface="Verdana" panose="020B0604030504040204" pitchFamily="34" charset="0"/>
                        </a:rPr>
                        <a:t>63</a:t>
                      </a:r>
                    </a:p>
                  </a:txBody>
                  <a:tcPr/>
                </a:tc>
                <a:tc>
                  <a:txBody>
                    <a:bodyPr/>
                    <a:lstStyle/>
                    <a:p>
                      <a:pPr algn="ctr"/>
                      <a:r>
                        <a:rPr lang="es-MX" sz="1600" dirty="0">
                          <a:latin typeface="Verdana" panose="020B0604030504040204" pitchFamily="34" charset="0"/>
                          <a:ea typeface="Verdana" panose="020B0604030504040204" pitchFamily="34" charset="0"/>
                        </a:rPr>
                        <a:t>90</a:t>
                      </a:r>
                    </a:p>
                  </a:txBody>
                  <a:tcPr/>
                </a:tc>
                <a:extLst>
                  <a:ext uri="{0D108BD9-81ED-4DB2-BD59-A6C34878D82A}">
                    <a16:rowId xmlns:a16="http://schemas.microsoft.com/office/drawing/2014/main" val="765004234"/>
                  </a:ext>
                </a:extLst>
              </a:tr>
              <a:tr h="370840">
                <a:tc>
                  <a:txBody>
                    <a:bodyPr/>
                    <a:lstStyle/>
                    <a:p>
                      <a:pPr algn="ctr"/>
                      <a:r>
                        <a:rPr lang="es-MX" sz="1600" dirty="0">
                          <a:latin typeface="Verdana" panose="020B0604030504040204" pitchFamily="34" charset="0"/>
                          <a:ea typeface="Verdana" panose="020B0604030504040204" pitchFamily="34" charset="0"/>
                        </a:rPr>
                        <a:t>64</a:t>
                      </a:r>
                    </a:p>
                  </a:txBody>
                  <a:tcPr/>
                </a:tc>
                <a:tc>
                  <a:txBody>
                    <a:bodyPr/>
                    <a:lstStyle/>
                    <a:p>
                      <a:pPr algn="ctr"/>
                      <a:r>
                        <a:rPr lang="es-MX" sz="1600" dirty="0">
                          <a:latin typeface="Verdana" panose="020B0604030504040204" pitchFamily="34" charset="0"/>
                          <a:ea typeface="Verdana" panose="020B0604030504040204" pitchFamily="34" charset="0"/>
                        </a:rPr>
                        <a:t>95</a:t>
                      </a:r>
                    </a:p>
                  </a:txBody>
                  <a:tcPr/>
                </a:tc>
                <a:extLst>
                  <a:ext uri="{0D108BD9-81ED-4DB2-BD59-A6C34878D82A}">
                    <a16:rowId xmlns:a16="http://schemas.microsoft.com/office/drawing/2014/main" val="2775531568"/>
                  </a:ext>
                </a:extLst>
              </a:tr>
              <a:tr h="370840">
                <a:tc>
                  <a:txBody>
                    <a:bodyPr/>
                    <a:lstStyle/>
                    <a:p>
                      <a:pPr algn="ctr"/>
                      <a:r>
                        <a:rPr lang="es-MX" sz="1600" dirty="0">
                          <a:latin typeface="Verdana" panose="020B0604030504040204" pitchFamily="34" charset="0"/>
                          <a:ea typeface="Verdana" panose="020B0604030504040204" pitchFamily="34" charset="0"/>
                        </a:rPr>
                        <a:t>65</a:t>
                      </a:r>
                    </a:p>
                  </a:txBody>
                  <a:tcPr/>
                </a:tc>
                <a:tc>
                  <a:txBody>
                    <a:bodyPr/>
                    <a:lstStyle/>
                    <a:p>
                      <a:pPr algn="ctr"/>
                      <a:r>
                        <a:rPr lang="es-MX" sz="1600" dirty="0">
                          <a:latin typeface="Verdana" panose="020B0604030504040204" pitchFamily="34" charset="0"/>
                          <a:ea typeface="Verdana" panose="020B0604030504040204" pitchFamily="34" charset="0"/>
                        </a:rPr>
                        <a:t>100</a:t>
                      </a:r>
                    </a:p>
                  </a:txBody>
                  <a:tcPr/>
                </a:tc>
                <a:extLst>
                  <a:ext uri="{0D108BD9-81ED-4DB2-BD59-A6C34878D82A}">
                    <a16:rowId xmlns:a16="http://schemas.microsoft.com/office/drawing/2014/main" val="2937327671"/>
                  </a:ext>
                </a:extLst>
              </a:tr>
            </a:tbl>
          </a:graphicData>
        </a:graphic>
      </p:graphicFrame>
      <p:sp>
        <p:nvSpPr>
          <p:cNvPr id="3" name="Rectangle 2"/>
          <p:cNvSpPr/>
          <p:nvPr/>
        </p:nvSpPr>
        <p:spPr>
          <a:xfrm>
            <a:off x="1524000" y="988826"/>
            <a:ext cx="6096000" cy="52322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Porcentajes de pensión por edades en cesantía y vejez (LSS 1973)</a:t>
            </a:r>
            <a:endParaRPr kumimoji="0" lang="es-MX"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Tree>
    <p:extLst>
      <p:ext uri="{BB962C8B-B14F-4D97-AF65-F5344CB8AC3E}">
        <p14:creationId xmlns:p14="http://schemas.microsoft.com/office/powerpoint/2010/main" val="1068013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4708477" y="1282663"/>
            <a:ext cx="4186141" cy="4564839"/>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2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Para determinar la cuantía básica de la pensión y sus incrementos, se considera como salario diario el promedio correspondiente a las últimas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250 semanas</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de cotización.</a:t>
            </a:r>
          </a:p>
          <a:p>
            <a:pPr marL="0" marR="0" lvl="0" indent="0" algn="just" defTabSz="914400" rtl="0" eaLnBrk="1" fontAlgn="base" latinLnBrk="0" hangingPunct="1">
              <a:lnSpc>
                <a:spcPct val="12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Si el asegurado no tuviere reconocidas las 250 semanas señaladas se tomarán las que tuviere acreditadas, siempre que sean suficientes para el otorgamiento de una pensión por invalidez o por muerte.</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pic>
        <p:nvPicPr>
          <p:cNvPr id="4" name="Picture 3"/>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83941" y="1132763"/>
            <a:ext cx="4526976" cy="5332109"/>
          </a:xfrm>
          <a:prstGeom prst="rect">
            <a:avLst/>
          </a:prstGeom>
        </p:spPr>
      </p:pic>
    </p:spTree>
    <p:extLst>
      <p:ext uri="{BB962C8B-B14F-4D97-AF65-F5344CB8AC3E}">
        <p14:creationId xmlns:p14="http://schemas.microsoft.com/office/powerpoint/2010/main" val="588220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2"/>
            <a:ext cx="8640000" cy="3665491"/>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El salario diario que resulte se expresará en veces el Salario Mínimo General para el Distrito Federal (CDMX) vigente en la fecha en que el asegurado se pensione, a fin de determinar el grupo de la tabla que antecede en que el propio asegurado se encuentre.</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Los porcentajes para calcular la cuantía básica, así como los incrementos anuales se aplicarán al salario promedio diario mencionado.</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El derecho al incremento anual se adquiere por cada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52 semanas</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más de cotización.</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1655900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2"/>
            <a:ext cx="8640000" cy="4234877"/>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Los incrementos a la cuantía básica, tratándose de fracciones del año, se calcularán en la siguiente forma:</a:t>
            </a:r>
          </a:p>
          <a:p>
            <a:pPr marL="800100" marR="0" lvl="1" indent="-342900" algn="just" defTabSz="914400" rtl="0" eaLnBrk="1" fontAlgn="base" latinLnBrk="0" hangingPunct="1">
              <a:lnSpc>
                <a:spcPct val="150000"/>
              </a:lnSpc>
              <a:spcBef>
                <a:spcPts val="600"/>
              </a:spcBef>
              <a:spcAft>
                <a:spcPts val="600"/>
              </a:spcAft>
              <a:buClrTx/>
              <a:buSzTx/>
              <a:buFont typeface="+mj-lt"/>
              <a:buAutoNum type="alphaLcParenR"/>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Con 13 a 26 semanas reconocidas se tiene derecho al 50% del incremento anual.</a:t>
            </a:r>
          </a:p>
          <a:p>
            <a:pPr marL="800100" marR="0" lvl="1" indent="-342900" algn="just" defTabSz="914400" rtl="0" eaLnBrk="1" fontAlgn="base" latinLnBrk="0" hangingPunct="1">
              <a:lnSpc>
                <a:spcPct val="150000"/>
              </a:lnSpc>
              <a:spcBef>
                <a:spcPts val="600"/>
              </a:spcBef>
              <a:spcAft>
                <a:spcPts val="600"/>
              </a:spcAft>
              <a:buClrTx/>
              <a:buSzTx/>
              <a:buFont typeface="+mj-lt"/>
              <a:buAutoNum type="alphaLcParenR"/>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Con más de 26 semanas reconocidas se tiene derecho al 100% del incremento anual.</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El Instituto otorgará a los pensionados comprendidos en este capítulo, un aguinaldo anual equivalente a una mensualidad del importe de la pensión que perciban.</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756926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19144"/>
            <a:ext cx="8640000" cy="4342599"/>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Como complemento a lo anterior el artículo 168 de la Ley 1973 menciona: La pensión de invalidez, vejez o cesantía en edad avanzada, incluyendo las asignaciones familiares y ayudas asistenciales que en su caso correspondan, no podrá ser inferior al 100% del salario mínimo general que rija en el Distrito Federal (CDMX).</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El monto determinado servirá de base para calcular las pensiones que se deriven de la muerte tanto del pensionado, como del asegurado, al igual que para determinar la cuantía del aguinaldo anual. En todo caso, el monto del aguinaldo a que se refiere el párrafo anterior, no será inferior a treinta días.</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1150283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0"/>
            <a:ext cx="8640000" cy="4758097"/>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La cuantía mínima de las pensiones derivadas de incorporaciones generadas por decreto del Ejecutivo Federal o convenios celebrados por el Instituto en los términos de esta Ley, que contengan las modalidades de aseguramiento en el ramo de los seguros de invalidez, vejez, cesantía en edad avanzada y muerte, se sujetará a lo establecido en el segundo párrafo del artículo 172 de la ley de SS 1973.</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 la misma forma el Artículo 169 LSS 1973, establece: La pensión que se otorgue por invalidez, vejez o cesantía en edad avanzada, incluyendo el importe de las asignaciones familiares y ayudas asistenciales que se concedan, no excederá del 100% del salario promedio que sirvió de base para fijar la cuantía de la pensión.</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1247968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0"/>
            <a:ext cx="8640000" cy="4968027"/>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Este límite se elevará únicamente por derechos derivados de semanas de cotización reconocidas, cuando el monto que se obtenga por concepto de la pensión sea superior al mismo. Las anteriores limitaciones no regirán para las pensiones con el monto mínimo establecido en el artículo 168.</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Una vez cubiertos los requisitos y autorizada la pensión, corresponde al Gobierno Federal a través del IMSS, calcularla de acuerdo al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salario promedio </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que el trabajador ganó en los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últimos 5 años </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y la edad al momento del retiro, y pagarla durante el tiempo que le quede de vida.</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Además de la pensión que le corresponde, tiene derecho a disponer en una sola exhibición de los recursos de retiro y vivienda 92.</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88507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0"/>
            <a:ext cx="8640000" cy="1280222"/>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Laboratorio</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Determinar la cuantía de la pensión por Cesantía en edad avanzado o vejez bajo la Ley del Seguro Social de 1973 de al menos 5 carreras salariales.</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spTree>
    <p:extLst>
      <p:ext uri="{BB962C8B-B14F-4D97-AF65-F5344CB8AC3E}">
        <p14:creationId xmlns:p14="http://schemas.microsoft.com/office/powerpoint/2010/main" val="1301281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Ley del Seguro Social de 1973</a:t>
            </a:r>
          </a:p>
        </p:txBody>
      </p:sp>
      <p:pic>
        <p:nvPicPr>
          <p:cNvPr id="2" name="Picture 1"/>
          <p:cNvPicPr>
            <a:picLocks noChangeAspect="1"/>
          </p:cNvPicPr>
          <p:nvPr/>
        </p:nvPicPr>
        <p:blipFill>
          <a:blip r:embed="rId2"/>
          <a:stretch>
            <a:fillRect/>
          </a:stretch>
        </p:blipFill>
        <p:spPr>
          <a:xfrm>
            <a:off x="436727" y="1125937"/>
            <a:ext cx="3430422" cy="2572817"/>
          </a:xfrm>
          <a:prstGeom prst="rect">
            <a:avLst/>
          </a:prstGeom>
        </p:spPr>
      </p:pic>
      <p:sp>
        <p:nvSpPr>
          <p:cNvPr id="3" name="Rectangle 2"/>
          <p:cNvSpPr/>
          <p:nvPr/>
        </p:nvSpPr>
        <p:spPr>
          <a:xfrm>
            <a:off x="263235" y="4016442"/>
            <a:ext cx="8631383" cy="2362442"/>
          </a:xfrm>
          <a:prstGeom prst="rect">
            <a:avLst/>
          </a:prstGeom>
        </p:spPr>
        <p:txBody>
          <a:bodyPr wrap="square">
            <a:spAutoFit/>
          </a:bodyPr>
          <a:lstStyle/>
          <a:p>
            <a:pPr marL="285750" marR="0" lvl="0" indent="-285750" algn="l" defTabSz="4572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http://www.pension-imss.com/index.php/blog/31-modalidad-40-para-pension-en-el-imss</a:t>
            </a:r>
            <a:endPar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https://www.elfinanciero.com.mx/economia/posible-obtener-una-pension-de-hasta-50-mil-pesos-con-ley-del-imss</a:t>
            </a:r>
            <a:endPar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50000"/>
              </a:lnSpc>
              <a:spcBef>
                <a:spcPts val="600"/>
              </a:spcBef>
              <a:spcAft>
                <a:spcPts val="60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hlinkClick r:id="rId5"/>
              </a:rPr>
              <a:t>https://www.mibolsillo.com/retiro/Modalidad-40-del-IMSS-Guia-definitiva-20190815-0004.html</a:t>
            </a:r>
            <a:endPar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50000"/>
              </a:lnSpc>
              <a:spcBef>
                <a:spcPts val="600"/>
              </a:spcBef>
              <a:spcAft>
                <a:spcPts val="600"/>
              </a:spcAft>
              <a:buClrTx/>
              <a:buSzTx/>
              <a:buFont typeface="Arial" panose="020B0604020202020204" pitchFamily="34" charset="0"/>
              <a:buChar char="•"/>
              <a:tabLst/>
              <a:defRPr/>
            </a:pPr>
            <a:endParaRPr kumimoji="0" lang="es-MX"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6966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932FABB3-AC79-4D66-9E94-E367C6109A33}"/>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60000"/>
              <a:lumOff val="4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lang="es-MX" sz="2000" b="1" i="1" dirty="0">
                <a:solidFill>
                  <a:schemeClr val="bg1"/>
                </a:solidFill>
                <a:latin typeface="Verdana" panose="020B0604030504040204" pitchFamily="34" charset="0"/>
                <a:ea typeface="Verdana" panose="020B0604030504040204" pitchFamily="34" charset="0"/>
                <a:cs typeface="Verdana" panose="020B0604030504040204" pitchFamily="34" charset="0"/>
              </a:rPr>
              <a:t>Ley del Seguro Social de 1973</a:t>
            </a:r>
            <a:endParaRPr kumimoji="0" lang="es-MX" sz="2000" b="1" i="1"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 name="TextBox 1">
            <a:extLst>
              <a:ext uri="{FF2B5EF4-FFF2-40B4-BE49-F238E27FC236}">
                <a16:creationId xmlns:a16="http://schemas.microsoft.com/office/drawing/2014/main" id="{97D94B81-1FC7-4F7A-B850-4BED94660D44}"/>
              </a:ext>
            </a:extLst>
          </p:cNvPr>
          <p:cNvSpPr txBox="1"/>
          <p:nvPr/>
        </p:nvSpPr>
        <p:spPr>
          <a:xfrm>
            <a:off x="390697" y="1055332"/>
            <a:ext cx="8352000" cy="6186309"/>
          </a:xfrm>
          <a:prstGeom prst="rect">
            <a:avLst/>
          </a:prstGeom>
          <a:solidFill>
            <a:srgbClr val="A5E5EE"/>
          </a:solidFill>
          <a:ln>
            <a:solidFill>
              <a:schemeClr val="accent6">
                <a:lumMod val="20000"/>
                <a:lumOff val="8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ACTIVIDAD</a:t>
            </a:r>
            <a:r>
              <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Contestar los espacios en blanco con la finalidad de dar un breve repaso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El</a:t>
            </a:r>
            <a:r>
              <a:rPr kumimoji="0" lang="es-MX" sz="1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Art. 137 a 145 </a:t>
            </a:r>
            <a:r>
              <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establece que para pensionarse se requieren un mínimo de _____ semanas cotizadas. Para la pensión por _____________, la edad es ______ años; mientras que la pensión por ______________ comprende la edad de ____ años.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El</a:t>
            </a:r>
            <a:r>
              <a:rPr kumimoji="0" lang="es-MX" sz="1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Art. 167 </a:t>
            </a:r>
            <a:r>
              <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dice que las pensiones se componen de una cuantía básica más incrementos _______ relacionados al número de __________ posteriores a las ____. Para determinar el incremento se considera como salario diario el _________ de las últimas ____ semanas de cotización.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MX" dirty="0">
                <a:solidFill>
                  <a:prstClr val="black"/>
                </a:solidFill>
                <a:latin typeface="Verdana" panose="020B0604030504040204" pitchFamily="34" charset="0"/>
                <a:ea typeface="Verdana" panose="020B0604030504040204" pitchFamily="34" charset="0"/>
              </a:rPr>
              <a:t>Corresponde al </a:t>
            </a:r>
            <a:r>
              <a:rPr kumimoji="0" lang="es-MX" sz="18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______________ a traves del ______ calcular la pensión autorizada; la cual se basa en el ________________ obtenido en los últimos ____ años.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063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2"/>
            <a:ext cx="8640000" cy="3511602"/>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La estabilidad económica de las personas en edad de retiro se debe establecer a partir de las siguientes dimensiones: el mercado laboral, el Estado y la familia.</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Con respecto al mercado laboral, México tiene una gran proporción de su población que no está protegida de forma institucional por la seguridad social por el amplio sector informal en el que se desempeñaron los adultos mayores mientras fueron parte de la PEA y que no les permitió reunir los requisitos para gozar de una pensión.</a:t>
            </a:r>
          </a:p>
        </p:txBody>
      </p:sp>
      <p:sp>
        <p:nvSpPr>
          <p:cNvPr id="11" name="Rectangle 2"/>
          <p:cNvSpPr txBox="1">
            <a:spLocks noChangeArrowheads="1"/>
          </p:cNvSpPr>
          <p:nvPr/>
        </p:nvSpPr>
        <p:spPr>
          <a:xfrm>
            <a:off x="893137" y="995043"/>
            <a:ext cx="8004175" cy="436563"/>
          </a:xfrm>
          <a:prstGeom prst="rect">
            <a:avLst/>
          </a:prstGeom>
          <a:noFill/>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s-MX"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Conclusiones</a:t>
            </a:r>
            <a:endParaRPr kumimoji="0" lang="en-US"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40000"/>
              <a:lumOff val="6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chemeClr val="tx2">
                    <a:lumMod val="75000"/>
                  </a:schemeClr>
                </a:solidFill>
                <a:effectLst/>
                <a:uLnTx/>
                <a:uFillTx/>
                <a:latin typeface="Verdana" panose="020B0604030504040204" pitchFamily="34" charset="0"/>
                <a:ea typeface="Verdana" panose="020B0604030504040204" pitchFamily="34" charset="0"/>
                <a:cs typeface="Verdana" panose="020B0604030504040204" pitchFamily="34" charset="0"/>
              </a:rPr>
              <a:t>Seguridad social y pensiones</a:t>
            </a:r>
          </a:p>
        </p:txBody>
      </p:sp>
    </p:spTree>
    <p:extLst>
      <p:ext uri="{BB962C8B-B14F-4D97-AF65-F5344CB8AC3E}">
        <p14:creationId xmlns:p14="http://schemas.microsoft.com/office/powerpoint/2010/main" val="2592053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1"/>
            <a:ext cx="8640000" cy="3567643"/>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Con respecto al Estado, se ha implementando la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pensión universal </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para adultos mayores de 68 años, y a los adultos mayores de 65 años que viven en los municipios integrantes de pueblos indígenas, que consiste en un apoyo económico de $2,550 pesos cada dos meses.</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Sin embargo, vale la pena reflexionar sobre la viabilidad de esta prestación en un contexto demográfico caracterizado por una pirámide poblacional invertida y una tasa de natalidad baja y una tasa de participación tributaria escasa. </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3">
            <a:extLst>
              <a:ext uri="{FF2B5EF4-FFF2-40B4-BE49-F238E27FC236}">
                <a16:creationId xmlns:a16="http://schemas.microsoft.com/office/drawing/2014/main" id="{73061A67-B71A-4509-9F10-9B225B555FD7}"/>
              </a:ext>
            </a:extLst>
          </p:cNvPr>
          <p:cNvSpPr>
            <a:spLocks noChangeArrowheads="1"/>
          </p:cNvSpPr>
          <p:nvPr/>
        </p:nvSpPr>
        <p:spPr bwMode="auto">
          <a:xfrm>
            <a:off x="200089" y="41910"/>
            <a:ext cx="8729662" cy="698754"/>
          </a:xfrm>
          <a:prstGeom prst="rect">
            <a:avLst/>
          </a:prstGeom>
          <a:solidFill>
            <a:schemeClr val="accent1">
              <a:lumMod val="40000"/>
              <a:lumOff val="6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Seguridad social y pensiones</a:t>
            </a:r>
          </a:p>
        </p:txBody>
      </p:sp>
      <p:sp>
        <p:nvSpPr>
          <p:cNvPr id="8" name="Rectangle 2"/>
          <p:cNvSpPr txBox="1">
            <a:spLocks noChangeArrowheads="1"/>
          </p:cNvSpPr>
          <p:nvPr/>
        </p:nvSpPr>
        <p:spPr>
          <a:xfrm>
            <a:off x="893137" y="995043"/>
            <a:ext cx="8004175" cy="436563"/>
          </a:xfrm>
          <a:prstGeom prst="rect">
            <a:avLst/>
          </a:prstGeom>
          <a:noFill/>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s-MX"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Conclusiones</a:t>
            </a:r>
            <a:endParaRPr kumimoji="0" lang="en-US"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40788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0"/>
            <a:ext cx="8640000" cy="4968027"/>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Por último, la dimensión familiar sigue siendo un factor importante en la seguridad económica de las personas mayores. Lo anterior porque, ante una desprotección institucional, se tiene arraigada la creencia ‒la cual va desapareciendo‒ de que los hijos deben mantener a sus padres.</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Sin embargo, hay una dimensión adicional: la individual. Hasta el momento, en México son pocas las personas que disfrutan de su retiro en virtud de sus ahorros, sus inversiones o la contratación de seguros.</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Con un esquema de seguridad social de contribución definida como el que prevalece actualmente en México, es importante </a:t>
            </a:r>
            <a:r>
              <a:rPr kumimoji="0" lang="es-MX" sz="1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fomentar la concientización</a:t>
            </a: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sobre temas de preparación para el retiro y una cultura de previsión.</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3">
            <a:extLst>
              <a:ext uri="{FF2B5EF4-FFF2-40B4-BE49-F238E27FC236}">
                <a16:creationId xmlns:a16="http://schemas.microsoft.com/office/drawing/2014/main" id="{64EC0726-4792-4FF2-8A97-72BEB3410613}"/>
              </a:ext>
            </a:extLst>
          </p:cNvPr>
          <p:cNvSpPr>
            <a:spLocks noChangeArrowheads="1"/>
          </p:cNvSpPr>
          <p:nvPr/>
        </p:nvSpPr>
        <p:spPr bwMode="auto">
          <a:xfrm>
            <a:off x="200089" y="41910"/>
            <a:ext cx="8729662" cy="698754"/>
          </a:xfrm>
          <a:prstGeom prst="rect">
            <a:avLst/>
          </a:prstGeom>
          <a:solidFill>
            <a:schemeClr val="accent1">
              <a:lumMod val="40000"/>
              <a:lumOff val="6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Seguridad social y pensiones</a:t>
            </a:r>
          </a:p>
        </p:txBody>
      </p:sp>
      <p:sp>
        <p:nvSpPr>
          <p:cNvPr id="8" name="Rectangle 2"/>
          <p:cNvSpPr txBox="1">
            <a:spLocks noChangeArrowheads="1"/>
          </p:cNvSpPr>
          <p:nvPr/>
        </p:nvSpPr>
        <p:spPr>
          <a:xfrm>
            <a:off x="893137" y="995043"/>
            <a:ext cx="8004175" cy="436563"/>
          </a:xfrm>
          <a:prstGeom prst="rect">
            <a:avLst/>
          </a:prstGeom>
          <a:noFill/>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s-MX"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Conclusiones</a:t>
            </a:r>
            <a:endParaRPr kumimoji="0" lang="en-US"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736390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0"/>
            <a:ext cx="8640000" cy="3927101"/>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En cuanto a temas de salud, en México una proporción importante de personas adultas mayores que trabajaron en algún momento de su vida manifiestan tener acceso a servicios médicos, hospitalarios, farmacéuticos y quirúrgicos. No obstante, una quinta parte de esta población no lo tiene. </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Por tanto, habrá trabajo por hacer; especialmente tomando en consideración que las enfermedades crónico-degenerativas son las que prevalecen actualmente entre la población, lo que implica forzosamente acceso continuo a tratamientos médicos.</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3">
            <a:extLst>
              <a:ext uri="{FF2B5EF4-FFF2-40B4-BE49-F238E27FC236}">
                <a16:creationId xmlns:a16="http://schemas.microsoft.com/office/drawing/2014/main" id="{E41E1D84-1C8D-4B5C-98DE-4313F79CF685}"/>
              </a:ext>
            </a:extLst>
          </p:cNvPr>
          <p:cNvSpPr>
            <a:spLocks noChangeArrowheads="1"/>
          </p:cNvSpPr>
          <p:nvPr/>
        </p:nvSpPr>
        <p:spPr bwMode="auto">
          <a:xfrm>
            <a:off x="200089" y="41910"/>
            <a:ext cx="8729662" cy="698754"/>
          </a:xfrm>
          <a:prstGeom prst="rect">
            <a:avLst/>
          </a:prstGeom>
          <a:solidFill>
            <a:schemeClr val="accent1">
              <a:lumMod val="40000"/>
              <a:lumOff val="6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Seguridad social y pensiones</a:t>
            </a:r>
          </a:p>
        </p:txBody>
      </p:sp>
      <p:sp>
        <p:nvSpPr>
          <p:cNvPr id="8" name="Rectangle 2"/>
          <p:cNvSpPr txBox="1">
            <a:spLocks noChangeArrowheads="1"/>
          </p:cNvSpPr>
          <p:nvPr/>
        </p:nvSpPr>
        <p:spPr>
          <a:xfrm>
            <a:off x="893137" y="995043"/>
            <a:ext cx="8004175" cy="436563"/>
          </a:xfrm>
          <a:prstGeom prst="rect">
            <a:avLst/>
          </a:prstGeom>
          <a:noFill/>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s-MX"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Conclusiones</a:t>
            </a:r>
            <a:endParaRPr kumimoji="0" lang="en-US"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792501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0"/>
            <a:ext cx="8640000" cy="4911986"/>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El retiro y la vejez siguen asociándose con aspectos negativos de la vida. Consecuentemente, las personas prefieren no pensar en ello, lo que, a su vez, implica poca preparación para cuando llegue ese momento.</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Persisten algunas ideas como “el gobierno tiene la obligación de ver por la gente mayor que ya no puede trabajar”, “los hijos deben mantener a sus padres cuando se retiren”, aunque también está presente la noción de que “cuando se está viejo, uno se arrepiente de no haber ahorrado suficiente”.</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 medida que la edad avanza, las personas se vuelven más conscientes de la planeación para el retiro y toman medidas previsionales. Aun así, persiste una tensión entre el deber ser y el ser del ahorro para el retiro.</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3">
            <a:extLst>
              <a:ext uri="{FF2B5EF4-FFF2-40B4-BE49-F238E27FC236}">
                <a16:creationId xmlns:a16="http://schemas.microsoft.com/office/drawing/2014/main" id="{782A99D2-1709-46E4-98E0-6EBBCE79B185}"/>
              </a:ext>
            </a:extLst>
          </p:cNvPr>
          <p:cNvSpPr>
            <a:spLocks noChangeArrowheads="1"/>
          </p:cNvSpPr>
          <p:nvPr/>
        </p:nvSpPr>
        <p:spPr bwMode="auto">
          <a:xfrm>
            <a:off x="200089" y="41910"/>
            <a:ext cx="8729662" cy="698754"/>
          </a:xfrm>
          <a:prstGeom prst="rect">
            <a:avLst/>
          </a:prstGeom>
          <a:solidFill>
            <a:schemeClr val="accent1">
              <a:lumMod val="40000"/>
              <a:lumOff val="6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Seguridad social y pensiones</a:t>
            </a:r>
          </a:p>
        </p:txBody>
      </p:sp>
      <p:sp>
        <p:nvSpPr>
          <p:cNvPr id="8" name="Rectangle 2"/>
          <p:cNvSpPr txBox="1">
            <a:spLocks noChangeArrowheads="1"/>
          </p:cNvSpPr>
          <p:nvPr/>
        </p:nvSpPr>
        <p:spPr>
          <a:xfrm>
            <a:off x="893137" y="995043"/>
            <a:ext cx="8004175" cy="436563"/>
          </a:xfrm>
          <a:prstGeom prst="rect">
            <a:avLst/>
          </a:prstGeom>
          <a:noFill/>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s-MX"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Conclusiones</a:t>
            </a:r>
            <a:endParaRPr kumimoji="0" lang="en-US"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68241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4"/>
            <a:ext cx="8640000" cy="3983142"/>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Si bien casi nadie se opone a la importancia del ahorro previsional, pocos lo hacen. Es importante encontrar estrategias que conviertan esas “buenas voluntades” en acciones concretas. Se ha observado que la propiedad de activos es una fuente de seguridad económica ‒particularmente los bienes raíces‒. </a:t>
            </a:r>
          </a:p>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Es necesario pensar en estrategias que simplifiquen y estabilicen los mecanismos para ahorrar, que distribuyan información sobre los mismos y sobre su importancia, y que estimulen y generen las capacidades para procesar y comprender información relacionada. </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3">
            <a:extLst>
              <a:ext uri="{FF2B5EF4-FFF2-40B4-BE49-F238E27FC236}">
                <a16:creationId xmlns:a16="http://schemas.microsoft.com/office/drawing/2014/main" id="{21144ACA-09A9-4AAA-9CAB-22710488683F}"/>
              </a:ext>
            </a:extLst>
          </p:cNvPr>
          <p:cNvSpPr>
            <a:spLocks noChangeArrowheads="1"/>
          </p:cNvSpPr>
          <p:nvPr/>
        </p:nvSpPr>
        <p:spPr bwMode="auto">
          <a:xfrm>
            <a:off x="200089" y="41910"/>
            <a:ext cx="8729662" cy="698754"/>
          </a:xfrm>
          <a:prstGeom prst="rect">
            <a:avLst/>
          </a:prstGeom>
          <a:solidFill>
            <a:schemeClr val="accent1">
              <a:lumMod val="40000"/>
              <a:lumOff val="6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Seguridad social y pensiones</a:t>
            </a:r>
          </a:p>
        </p:txBody>
      </p:sp>
      <p:sp>
        <p:nvSpPr>
          <p:cNvPr id="8" name="Rectangle 2"/>
          <p:cNvSpPr txBox="1">
            <a:spLocks noChangeArrowheads="1"/>
          </p:cNvSpPr>
          <p:nvPr/>
        </p:nvSpPr>
        <p:spPr>
          <a:xfrm>
            <a:off x="893137" y="995043"/>
            <a:ext cx="8004175" cy="436563"/>
          </a:xfrm>
          <a:prstGeom prst="rect">
            <a:avLst/>
          </a:prstGeom>
          <a:noFill/>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s-MX"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Conclusiones</a:t>
            </a:r>
            <a:endParaRPr kumimoji="0" lang="en-US"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35675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61364" y="1432794"/>
            <a:ext cx="8640000" cy="1695721"/>
          </a:xfrm>
          <a:prstGeom prst="rect">
            <a:avLst/>
          </a:prstGeom>
          <a:noFill/>
          <a:ln w="12699">
            <a:noFill/>
            <a:miter lim="800000"/>
            <a:headEnd/>
            <a:tailEnd/>
          </a:ln>
        </p:spPr>
        <p:txBody>
          <a:bodyPr wrap="square" lIns="90488" tIns="44450" rIns="90488" bIns="44450">
            <a:spAutoFit/>
          </a:bodyPr>
          <a:lstStyle/>
          <a:p>
            <a:pPr marL="0" marR="0" lvl="0" indent="0" algn="just" defTabSz="914400" rtl="0" eaLnBrk="1" fontAlgn="base" latinLnBrk="0" hangingPunct="1">
              <a:lnSpc>
                <a:spcPct val="150000"/>
              </a:lnSpc>
              <a:spcBef>
                <a:spcPts val="600"/>
              </a:spcBef>
              <a:spcAft>
                <a:spcPts val="600"/>
              </a:spcAft>
              <a:buClrTx/>
              <a:buSzTx/>
              <a:buFontTx/>
              <a:buNone/>
              <a:tabLst/>
              <a:defRPr/>
            </a:pPr>
            <a:r>
              <a:rPr kumimoji="0" lang="es-MX"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Si bien la responsabilidad individual es la base para tener un retiro satisfactorio, la seguridad social es una herramienta de la sociedad en su conjunto, por lo que es necesario crear sinergias que contribuyan a mejorar la calidad de vida de las personas adultas mayores.</a:t>
            </a:r>
          </a:p>
        </p:txBody>
      </p:sp>
      <p:cxnSp>
        <p:nvCxnSpPr>
          <p:cNvPr id="27" name="Conector recto 26">
            <a:extLst>
              <a:ext uri="{FF2B5EF4-FFF2-40B4-BE49-F238E27FC236}">
                <a16:creationId xmlns:a16="http://schemas.microsoft.com/office/drawing/2014/main" id="{3062D4F0-92C1-49A6-8FE5-5E4872D32250}"/>
              </a:ext>
            </a:extLst>
          </p:cNvPr>
          <p:cNvCxnSpPr/>
          <p:nvPr/>
        </p:nvCxnSpPr>
        <p:spPr>
          <a:xfrm>
            <a:off x="263236" y="83126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E66FA83-3509-4A4A-9FA4-607106539280}"/>
              </a:ext>
            </a:extLst>
          </p:cNvPr>
          <p:cNvCxnSpPr/>
          <p:nvPr/>
        </p:nvCxnSpPr>
        <p:spPr>
          <a:xfrm>
            <a:off x="235525" y="6608607"/>
            <a:ext cx="8631382"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3">
            <a:extLst>
              <a:ext uri="{FF2B5EF4-FFF2-40B4-BE49-F238E27FC236}">
                <a16:creationId xmlns:a16="http://schemas.microsoft.com/office/drawing/2014/main" id="{21144ACA-09A9-4AAA-9CAB-22710488683F}"/>
              </a:ext>
            </a:extLst>
          </p:cNvPr>
          <p:cNvSpPr>
            <a:spLocks noChangeArrowheads="1"/>
          </p:cNvSpPr>
          <p:nvPr/>
        </p:nvSpPr>
        <p:spPr bwMode="auto">
          <a:xfrm>
            <a:off x="200089" y="41910"/>
            <a:ext cx="8729662" cy="698754"/>
          </a:xfrm>
          <a:prstGeom prst="rect">
            <a:avLst/>
          </a:prstGeom>
          <a:solidFill>
            <a:schemeClr val="accent1">
              <a:lumMod val="40000"/>
              <a:lumOff val="60000"/>
            </a:schemeClr>
          </a:solidFill>
          <a:ln w="9525">
            <a:noFill/>
            <a:miter lim="800000"/>
            <a:headEnd/>
            <a:tailEnd/>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2000" b="1" i="1" u="none" strike="noStrike" kern="120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Seguridad social y pensiones</a:t>
            </a:r>
          </a:p>
        </p:txBody>
      </p:sp>
      <p:sp>
        <p:nvSpPr>
          <p:cNvPr id="8" name="Rectangle 2"/>
          <p:cNvSpPr txBox="1">
            <a:spLocks noChangeArrowheads="1"/>
          </p:cNvSpPr>
          <p:nvPr/>
        </p:nvSpPr>
        <p:spPr>
          <a:xfrm>
            <a:off x="893137" y="995043"/>
            <a:ext cx="8004175" cy="436563"/>
          </a:xfrm>
          <a:prstGeom prst="rect">
            <a:avLst/>
          </a:prstGeom>
          <a:noFill/>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s-MX"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rPr>
              <a:t>Conclusiones</a:t>
            </a:r>
            <a:endParaRPr kumimoji="0" lang="en-US" sz="2000" b="1" i="0" u="none" strike="noStrike" kern="0" cap="none" spc="0" normalizeH="0" baseline="0" noProof="0" dirty="0">
              <a:ln>
                <a:noFill/>
              </a:ln>
              <a:solidFill>
                <a:srgbClr val="44546A"/>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 name="TextBox 4">
            <a:extLst>
              <a:ext uri="{FF2B5EF4-FFF2-40B4-BE49-F238E27FC236}">
                <a16:creationId xmlns:a16="http://schemas.microsoft.com/office/drawing/2014/main" id="{4CCFFD44-175B-C05D-3816-DF8B993651FB}"/>
              </a:ext>
            </a:extLst>
          </p:cNvPr>
          <p:cNvSpPr txBox="1"/>
          <p:nvPr/>
        </p:nvSpPr>
        <p:spPr>
          <a:xfrm>
            <a:off x="200089" y="6148844"/>
            <a:ext cx="8694529" cy="461665"/>
          </a:xfrm>
          <a:prstGeom prst="rect">
            <a:avLst/>
          </a:prstGeom>
          <a:noFill/>
        </p:spPr>
        <p:txBody>
          <a:bodyPr wrap="square" rtlCol="0">
            <a:spAutoFit/>
          </a:bodyPr>
          <a:lstStyle/>
          <a:p>
            <a:pPr algn="just"/>
            <a:r>
              <a:rPr lang="es-MX" sz="1200" dirty="0">
                <a:latin typeface="Verdana" panose="020B0604030504040204" pitchFamily="34" charset="0"/>
                <a:ea typeface="Verdana" panose="020B0604030504040204" pitchFamily="34" charset="0"/>
              </a:rPr>
              <a:t>Posdata: En el siguiente </a:t>
            </a:r>
            <a:r>
              <a:rPr lang="es-MX" sz="1200" dirty="0">
                <a:latin typeface="Verdana" panose="020B0604030504040204" pitchFamily="34" charset="0"/>
                <a:ea typeface="Verdana" panose="020B0604030504040204" pitchFamily="34" charset="0"/>
                <a:hlinkClick r:id="rId2"/>
              </a:rPr>
              <a:t>enlace</a:t>
            </a:r>
            <a:r>
              <a:rPr lang="es-MX" sz="1200" dirty="0">
                <a:latin typeface="Verdana" panose="020B0604030504040204" pitchFamily="34" charset="0"/>
                <a:ea typeface="Verdana" panose="020B0604030504040204" pitchFamily="34" charset="0"/>
              </a:rPr>
              <a:t> podrán encontrar una guía diseñada por Hacienda para el entendimiento y planeación de un ahorro exitoso a lo largo de la vida laboral. </a:t>
            </a:r>
          </a:p>
        </p:txBody>
      </p:sp>
    </p:spTree>
    <p:extLst>
      <p:ext uri="{BB962C8B-B14F-4D97-AF65-F5344CB8AC3E}">
        <p14:creationId xmlns:p14="http://schemas.microsoft.com/office/powerpoint/2010/main" val="202797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4">
            <a:extLst>
              <a:ext uri="{FF2B5EF4-FFF2-40B4-BE49-F238E27FC236}">
                <a16:creationId xmlns:a16="http://schemas.microsoft.com/office/drawing/2014/main" id="{9B7A4424-783D-4A95-8835-C61F370B49DF}"/>
              </a:ext>
            </a:extLst>
          </p:cNvPr>
          <p:cNvCxnSpPr/>
          <p:nvPr/>
        </p:nvCxnSpPr>
        <p:spPr>
          <a:xfrm>
            <a:off x="971550" y="3125645"/>
            <a:ext cx="7164000" cy="1588"/>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8">
            <a:extLst>
              <a:ext uri="{FF2B5EF4-FFF2-40B4-BE49-F238E27FC236}">
                <a16:creationId xmlns:a16="http://schemas.microsoft.com/office/drawing/2014/main" id="{F2A591AF-2F4A-413C-9AF6-F87F6CF57B05}"/>
              </a:ext>
            </a:extLst>
          </p:cNvPr>
          <p:cNvSpPr txBox="1"/>
          <p:nvPr/>
        </p:nvSpPr>
        <p:spPr>
          <a:xfrm>
            <a:off x="907769" y="2517713"/>
            <a:ext cx="7959139" cy="615535"/>
          </a:xfrm>
          <a:prstGeom prst="rect">
            <a:avLst/>
          </a:prstGeom>
          <a:noFill/>
        </p:spPr>
        <p:txBody>
          <a:bodyPr wrap="square" lIns="91420" tIns="45711" rIns="91420" bIns="45711">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s-MX" sz="3400" b="1" i="0" u="none" strike="noStrike" kern="1200" cap="none" spc="0" normalizeH="0" baseline="0" noProof="0" dirty="0">
                <a:ln>
                  <a:noFill/>
                </a:ln>
                <a:solidFill>
                  <a:srgbClr val="1E3960"/>
                </a:solidFill>
                <a:effectLst/>
                <a:uLnTx/>
                <a:uFillTx/>
                <a:latin typeface="Calibri" panose="020F0502020204030204"/>
                <a:ea typeface="+mn-ea"/>
                <a:cs typeface="+mn-cs"/>
              </a:rPr>
              <a:t>Seguridad social y pensiones</a:t>
            </a:r>
          </a:p>
        </p:txBody>
      </p:sp>
      <p:sp>
        <p:nvSpPr>
          <p:cNvPr id="6" name="TextBox 8">
            <a:extLst>
              <a:ext uri="{FF2B5EF4-FFF2-40B4-BE49-F238E27FC236}">
                <a16:creationId xmlns:a16="http://schemas.microsoft.com/office/drawing/2014/main" id="{7CA720E0-EB0C-4B0C-96CC-2776E7A4C881}"/>
              </a:ext>
            </a:extLst>
          </p:cNvPr>
          <p:cNvSpPr txBox="1"/>
          <p:nvPr/>
        </p:nvSpPr>
        <p:spPr>
          <a:xfrm>
            <a:off x="5486402" y="5749845"/>
            <a:ext cx="3161505" cy="461647"/>
          </a:xfrm>
          <a:prstGeom prst="rect">
            <a:avLst/>
          </a:prstGeom>
          <a:noFill/>
        </p:spPr>
        <p:txBody>
          <a:bodyPr wrap="square" lIns="91420" tIns="45711" rIns="91420" bIns="45711">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s-MX" sz="2400" b="1" i="1" u="none" strike="noStrike" kern="1200" cap="none" spc="0" normalizeH="0" baseline="0" noProof="0" dirty="0">
                <a:ln>
                  <a:noFill/>
                </a:ln>
                <a:solidFill>
                  <a:srgbClr val="1E3960"/>
                </a:solidFill>
                <a:effectLst/>
                <a:uLnTx/>
                <a:uFillTx/>
                <a:latin typeface="Calibri Light" panose="020F0302020204030204"/>
                <a:ea typeface="+mn-ea"/>
                <a:cs typeface="+mn-cs"/>
              </a:rPr>
              <a:t>Francisco García Castillo</a:t>
            </a:r>
          </a:p>
        </p:txBody>
      </p:sp>
    </p:spTree>
    <p:extLst>
      <p:ext uri="{BB962C8B-B14F-4D97-AF65-F5344CB8AC3E}">
        <p14:creationId xmlns:p14="http://schemas.microsoft.com/office/powerpoint/2010/main" val="750532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835865EB09FA4F8AF0823547988769" ma:contentTypeVersion="3" ma:contentTypeDescription="Create a new document." ma:contentTypeScope="" ma:versionID="ad307e11ec997e6c5d3b761087929771">
  <xsd:schema xmlns:xsd="http://www.w3.org/2001/XMLSchema" xmlns:xs="http://www.w3.org/2001/XMLSchema" xmlns:p="http://schemas.microsoft.com/office/2006/metadata/properties" xmlns:ns2="9d63bd8f-f4f2-45db-b534-f5f5cad13c33" targetNamespace="http://schemas.microsoft.com/office/2006/metadata/properties" ma:root="true" ma:fieldsID="107b9762897e7cab8574cfffdf229e87" ns2:_="">
    <xsd:import namespace="9d63bd8f-f4f2-45db-b534-f5f5cad13c3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63bd8f-f4f2-45db-b534-f5f5cad13c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6D828DB-FCB4-434B-9B15-8461A0C4E0FE}"/>
</file>

<file path=customXml/itemProps2.xml><?xml version="1.0" encoding="utf-8"?>
<ds:datastoreItem xmlns:ds="http://schemas.openxmlformats.org/officeDocument/2006/customXml" ds:itemID="{83786AB6-6964-4C71-83E6-1B2707C7B0B7}">
  <ds:schemaRefs>
    <ds:schemaRef ds:uri="http://www.w3.org/XML/1998/namespace"/>
    <ds:schemaRef ds:uri="3e324e15-0398-4cf2-9dc0-7cdbdef8d018"/>
    <ds:schemaRef ds:uri="http://schemas.microsoft.com/office/2006/documentManagement/types"/>
    <ds:schemaRef ds:uri="http://purl.org/dc/terms/"/>
    <ds:schemaRef ds:uri="http://schemas.microsoft.com/office/2006/metadata/properties"/>
    <ds:schemaRef ds:uri="http://purl.org/dc/dcmitype/"/>
    <ds:schemaRef ds:uri="http://purl.org/dc/elements/1.1/"/>
    <ds:schemaRef ds:uri="http://schemas.microsoft.com/office/infopath/2007/PartnerControls"/>
    <ds:schemaRef ds:uri="http://schemas.openxmlformats.org/package/2006/metadata/core-properties"/>
    <ds:schemaRef ds:uri="d33ae6fc-2923-46e8-a879-13f52e7fcd1a"/>
  </ds:schemaRefs>
</ds:datastoreItem>
</file>

<file path=customXml/itemProps3.xml><?xml version="1.0" encoding="utf-8"?>
<ds:datastoreItem xmlns:ds="http://schemas.openxmlformats.org/officeDocument/2006/customXml" ds:itemID="{514D9707-7806-46DF-AE2C-81A103E75E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9061</TotalTime>
  <Words>2334</Words>
  <Application>Microsoft Office PowerPoint</Application>
  <PresentationFormat>On-screen Show (4:3)</PresentationFormat>
  <Paragraphs>124</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Courier New</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DR FRANCISCO GARCIA</dc:creator>
  <cp:lastModifiedBy>Francisco Garcia Castillo</cp:lastModifiedBy>
  <cp:revision>309</cp:revision>
  <dcterms:created xsi:type="dcterms:W3CDTF">2018-03-08T00:32:55Z</dcterms:created>
  <dcterms:modified xsi:type="dcterms:W3CDTF">2023-01-24T17:38:56Z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0x01010092835865EB09FA4F8AF0823547988769</vt:lpwstr>
  </property>
</Properties>
</file>